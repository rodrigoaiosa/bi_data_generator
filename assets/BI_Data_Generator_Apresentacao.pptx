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22"/>
    <p:sldId id="270" r:id="rId21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openxmlformats.org/officeDocument/2006/relationships/slide" Target="slides/slide13.xml"/><Relationship Id="rId22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Aiosa" userId="0816740ef5516908" providerId="LiveId" clId="{55D8B7BC-FA06-40D3-A55F-1FA74549701A}"/>
    <pc:docChg chg="custSel modSld">
      <pc:chgData name="Rodrigo Aiosa" userId="0816740ef5516908" providerId="LiveId" clId="{55D8B7BC-FA06-40D3-A55F-1FA74549701A}" dt="2026-08-31T15:20:49.282" v="26" actId="20577"/>
      <pc:docMkLst>
        <pc:docMk/>
      </pc:docMkLst>
      <pc:sldChg chg="modSp mod">
        <pc:chgData name="Rodrigo Aiosa" userId="0816740ef5516908" providerId="LiveId" clId="{55D8B7BC-FA06-40D3-A55F-1FA74549701A}" dt="2026-08-31T11:35:14.146" v="16" actId="20577"/>
        <pc:sldMkLst>
          <pc:docMk/>
          <pc:sldMk cId="0" sldId="256"/>
        </pc:sldMkLst>
        <pc:spChg chg="mod">
          <ac:chgData name="Rodrigo Aiosa" userId="0816740ef5516908" providerId="LiveId" clId="{55D8B7BC-FA06-40D3-A55F-1FA74549701A}" dt="2026-08-31T11:35:14.146" v="16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Rodrigo Aiosa" userId="0816740ef5516908" providerId="LiveId" clId="{55D8B7BC-FA06-40D3-A55F-1FA74549701A}" dt="2026-08-31T15:19:24.936" v="19" actId="20577"/>
        <pc:sldMkLst>
          <pc:docMk/>
          <pc:sldMk cId="0" sldId="258"/>
        </pc:sldMkLst>
        <pc:spChg chg="mod">
          <ac:chgData name="Rodrigo Aiosa" userId="0816740ef5516908" providerId="LiveId" clId="{55D8B7BC-FA06-40D3-A55F-1FA74549701A}" dt="2026-08-31T15:19:24.936" v="19" actId="20577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Rodrigo Aiosa" userId="0816740ef5516908" providerId="LiveId" clId="{55D8B7BC-FA06-40D3-A55F-1FA74549701A}" dt="2026-08-31T15:20:49.282" v="26" actId="20577"/>
        <pc:sldMkLst>
          <pc:docMk/>
          <pc:sldMk cId="0" sldId="260"/>
        </pc:sldMkLst>
        <pc:spChg chg="mod">
          <ac:chgData name="Rodrigo Aiosa" userId="0816740ef5516908" providerId="LiveId" clId="{55D8B7BC-FA06-40D3-A55F-1FA74549701A}" dt="2026-08-31T15:20:49.282" v="26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o Aiosa" userId="0816740ef5516908" providerId="LiveId" clId="{55D8B7BC-FA06-40D3-A55F-1FA74549701A}" dt="2026-08-31T15:20:45.638" v="24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Rodrigo Aiosa" userId="0816740ef5516908" providerId="LiveId" clId="{55D8B7BC-FA06-40D3-A55F-1FA74549701A}" dt="2026-08-31T11:34:44.822" v="12" actId="20577"/>
        <pc:sldMkLst>
          <pc:docMk/>
          <pc:sldMk cId="0" sldId="264"/>
        </pc:sldMkLst>
        <pc:spChg chg="mod">
          <ac:chgData name="Rodrigo Aiosa" userId="0816740ef5516908" providerId="LiveId" clId="{55D8B7BC-FA06-40D3-A55F-1FA74549701A}" dt="2026-08-31T11:34:44.822" v="12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Rodrigo Aiosa" userId="0816740ef5516908" providerId="LiveId" clId="{55D8B7BC-FA06-40D3-A55F-1FA74549701A}" dt="2026-08-31T11:34:35.038" v="10" actId="20577"/>
        <pc:sldMkLst>
          <pc:docMk/>
          <pc:sldMk cId="0" sldId="266"/>
        </pc:sldMkLst>
        <pc:spChg chg="mod">
          <ac:chgData name="Rodrigo Aiosa" userId="0816740ef5516908" providerId="LiveId" clId="{55D8B7BC-FA06-40D3-A55F-1FA74549701A}" dt="2026-08-31T11:34:35.038" v="10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Rodrigo Aiosa" userId="0816740ef5516908" providerId="LiveId" clId="{55D8B7BC-FA06-40D3-A55F-1FA74549701A}" dt="2026-08-31T11:34:22.965" v="6" actId="20577"/>
        <pc:sldMkLst>
          <pc:docMk/>
          <pc:sldMk cId="0" sldId="268"/>
        </pc:sldMkLst>
        <pc:spChg chg="mod">
          <ac:chgData name="Rodrigo Aiosa" userId="0816740ef5516908" providerId="LiveId" clId="{55D8B7BC-FA06-40D3-A55F-1FA74549701A}" dt="2026-08-31T11:34:22.965" v="6" actId="20577"/>
          <ac:spMkLst>
            <pc:docMk/>
            <pc:sldMk cId="0" sldId="268"/>
            <ac:spMk id="7" creationId="{00000000-0000-0000-0000-000000000000}"/>
          </ac:spMkLst>
        </pc:spChg>
      </pc:sldChg>
      <pc:sldChg chg="delSp mod">
        <pc:chgData name="Rodrigo Aiosa" userId="0816740ef5516908" providerId="LiveId" clId="{55D8B7BC-FA06-40D3-A55F-1FA74549701A}" dt="2026-08-31T11:34:15.093" v="0" actId="478"/>
        <pc:sldMkLst>
          <pc:docMk/>
          <pc:sldMk cId="0" sldId="269"/>
        </pc:sldMkLst>
        <pc:spChg chg="del">
          <ac:chgData name="Rodrigo Aiosa" userId="0816740ef5516908" providerId="LiveId" clId="{55D8B7BC-FA06-40D3-A55F-1FA74549701A}" dt="2026-08-31T11:34:15.093" v="0" actId="478"/>
          <ac:spMkLst>
            <pc:docMk/>
            <pc:sldMk cId="0" sldId="269"/>
            <ac:spMk id="1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52560" y="2148840"/>
            <a:ext cx="310896" cy="457200"/>
          </a:xfrm>
          <a:prstGeom prst="roundRect">
            <a:avLst>
              <a:gd name="adj" fmla="val 28000"/>
            </a:avLst>
          </a:prstGeom>
          <a:solidFill>
            <a:srgbClr val="7A7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09760" y="1828800"/>
            <a:ext cx="310896" cy="777240"/>
          </a:xfrm>
          <a:prstGeom prst="roundRect">
            <a:avLst>
              <a:gd name="adj" fmla="val 28000"/>
            </a:avLst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66960" y="1463040"/>
            <a:ext cx="310896" cy="1143000"/>
          </a:xfrm>
          <a:prstGeom prst="roundRect">
            <a:avLst>
              <a:gd name="adj" fmla="val 28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424160" y="1965960"/>
            <a:ext cx="310896" cy="640080"/>
          </a:xfrm>
          <a:prstGeom prst="roundRect">
            <a:avLst>
              <a:gd name="adj" fmla="val 28000"/>
            </a:avLst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881360" y="1645920"/>
            <a:ext cx="310896" cy="960120"/>
          </a:xfrm>
          <a:prstGeom prst="roundRect">
            <a:avLst>
              <a:gd name="adj" fmla="val 28000"/>
            </a:avLst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40">
                <a:solidFill>
                  <a:srgbClr val="01B8AA"/>
                </a:solidFill>
                <a:latin typeface="Segoe UI Semibold"/>
              </a:rPr>
              <a:t>FERRAMENTA DE ESTUDO PARA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05156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 dirty="0">
                <a:solidFill>
                  <a:srgbClr val="F3F2F1"/>
                </a:solidFill>
                <a:latin typeface="Segoe UI Semibold"/>
              </a:rPr>
              <a:t>BI Data Generator</a:t>
            </a:r>
            <a:r>
              <a:rPr lang="pt-BR" sz="5600" b="1" i="0" dirty="0">
                <a:solidFill>
                  <a:srgbClr val="F3F2F1"/>
                </a:solidFill>
                <a:latin typeface="Segoe UI Semibold"/>
              </a:rPr>
              <a:t> PRO</a:t>
            </a:r>
            <a:endParaRPr sz="56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B3B0AD"/>
                </a:solidFill>
                <a:latin typeface="Segoe UI"/>
              </a:rPr>
              <a:t>Dados sinteticos em modelo estrela, medidas DAX e modelo TMDL prontos
para praticar Power BI, DAX, SQL e modelagem dimensional.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892040"/>
            <a:ext cx="502920" cy="317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2C811"/>
                </a:solidFill>
                <a:latin typeface="Segoe UI Semibold"/>
              </a:rPr>
              <a:t>rodrigoaiosa.streamlit.app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7A7774"/>
                </a:solidFill>
                <a:latin typeface="Segoe UI Semibold"/>
              </a:rPr>
              <a:t>200 SETORES  ·  10.690 MEDIDAS DAX  ·  11 FERRAMENTAS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Falta dado bom pra praticar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61264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50">
                <a:solidFill>
                  <a:srgbClr val="B3B0AD"/>
                </a:solidFill>
                <a:latin typeface="Segoe UI"/>
              </a:rPr>
              <a:t>Criar tabelas na mao e lento e nunca tem sazonalidade real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50">
                <a:solidFill>
                  <a:srgbClr val="B3B0AD"/>
                </a:solidFill>
                <a:latin typeface="Segoe UI"/>
              </a:rPr>
              <a:t>Bases publicas raramente refletem um modelo dimensional coerente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50">
                <a:solidFill>
                  <a:srgbClr val="B3B0AD"/>
                </a:solidFill>
                <a:latin typeface="Segoe UI"/>
              </a:rPr>
              <a:t>Dados reais costumam ser sensiveis ou dificeis de conseguir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65960"/>
            <a:ext cx="4069080" cy="329184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35240" y="219456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2514600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3F2F1"/>
                </a:solidFill>
                <a:latin typeface="Segoe UI Semibold"/>
              </a:rPr>
              <a:t>Resultado: horas montando planilha do zero em vez de praticar analise de verdade.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02/16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A SOLUCAO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Escolha. Configure. Gere.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2C811"/>
                </a:solidFill>
                <a:latin typeface="Segoe UI Semibold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971800"/>
            <a:ext cx="457200" cy="381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3F2F1"/>
                </a:solidFill>
                <a:latin typeface="Segoe UI Semibold"/>
              </a:rPr>
              <a:t>Escolha o setor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39312"/>
            <a:ext cx="3291840" cy="4571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pt-BR" sz="1250" b="0" i="0" dirty="0">
                <a:solidFill>
                  <a:srgbClr val="B3B0AD"/>
                </a:solidFill>
                <a:latin typeface="Segoe UI"/>
              </a:rPr>
              <a:t>200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bases de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negocio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prontas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, com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busca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na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barra lateral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1688" y="21031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1B8AA"/>
                </a:solidFill>
                <a:latin typeface="Segoe UI Semibold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971800"/>
            <a:ext cx="457200" cy="3810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315468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3F2F1"/>
                </a:solidFill>
                <a:latin typeface="Segoe UI Semibold"/>
              </a:rPr>
              <a:t>Defina periodo e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639312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3B0AD"/>
                </a:solidFill>
                <a:latin typeface="Segoe UI"/>
              </a:rPr>
              <a:t>Qualquer intervalo de datas; de 100 a 100.000 linhas na fato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6" y="21031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D625E"/>
                </a:solidFill>
                <a:latin typeface="Segoe UI Semibold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7576" y="2971800"/>
            <a:ext cx="457200" cy="3810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37576" y="315468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3F2F1"/>
                </a:solidFill>
                <a:latin typeface="Segoe UI Semibold"/>
              </a:rPr>
              <a:t>Gere a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6" y="3639312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3B0AD"/>
                </a:solidFill>
                <a:latin typeface="Segoe UI"/>
              </a:rPr>
              <a:t>Pacote completo pronto em segundos, com barra de progresso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03/16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PACOTE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Tudo pronto pra importar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" y="2212848"/>
            <a:ext cx="310896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Tabela Fato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Chaves estrangeiras e metricas numericas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75304" y="2212848"/>
            <a:ext cx="310896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75304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Tabelas Dimensao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Atributos descritivos e chave primaria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212848"/>
            <a:ext cx="310896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dCalendario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Serie temporal pronta pro Power Query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0808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51976" y="2212848"/>
            <a:ext cx="310896" cy="4445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51976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Medidas DAX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Sugeridas automaticamente, por categoria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" y="4069080"/>
            <a:ext cx="310896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Modelo TMDL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Tabelas, relacionamentos e medidas prontos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75304" y="4069080"/>
            <a:ext cx="310896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75304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Dicionario de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PT/EN, explica cada tabela e coluna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62472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069080"/>
            <a:ext cx="310896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Scripts 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DDL/INSERT em 3 dialetos diferentes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0808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51976" y="4069080"/>
            <a:ext cx="310896" cy="4445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51976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Case de negocio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Contexto ficticio com objetivo real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04/16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EM NUMEROS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Escala real, sem esforco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2551176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600" b="1" i="0" dirty="0">
                <a:solidFill>
                  <a:srgbClr val="F2C811"/>
                </a:solidFill>
                <a:latin typeface="Segoe UI Semibold"/>
              </a:rPr>
              <a:t>20</a:t>
            </a:r>
            <a:r>
              <a:rPr sz="4600" b="1" i="0" dirty="0">
                <a:solidFill>
                  <a:srgbClr val="F2C811"/>
                </a:solidFill>
                <a:latin typeface="Segoe UI Semibold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setores de negocio prontos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9856" y="2468880"/>
            <a:ext cx="2551176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600" b="1" i="0" dirty="0">
                <a:solidFill>
                  <a:srgbClr val="01B8AA"/>
                </a:solidFill>
                <a:latin typeface="Segoe UI Semibold"/>
              </a:rPr>
              <a:t>10.690</a:t>
            </a:r>
            <a:r>
              <a:rPr sz="4600" b="1" i="0" dirty="0">
                <a:solidFill>
                  <a:srgbClr val="01B8AA"/>
                </a:solidFill>
                <a:latin typeface="Segoe UI Semibold"/>
              </a:rPr>
              <a:t/>
            </a:r>
            <a:r>
              <a:rPr lang="pt-BR" sz="4600" b="1" i="0" dirty="0">
                <a:solidFill>
                  <a:srgbClr val="01B8AA"/>
                </a:solidFill>
                <a:latin typeface="Segoe UI Semibold"/>
              </a:rPr>
              <a:t/>
            </a:r>
            <a:endParaRPr sz="4600" b="1" i="0" dirty="0">
              <a:solidFill>
                <a:srgbClr val="01B8AA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19856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medidas DAX diferentes, sem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468880"/>
            <a:ext cx="255117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FD625E"/>
                </a:solidFill>
                <a:latin typeface="Segoe UI Semibold"/>
              </a:rPr>
              <a:t>100 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linhas configuraveis na fato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2468880"/>
            <a:ext cx="255117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D4AF0A"/>
                </a:solidFill>
                <a:latin typeface="Segoe UI Semibold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ferramentas dentro de um so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05/16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UM APP, ONZE FERRAMENTAS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Da geracao de dados a certificacao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" y="2194560"/>
            <a:ext cx="292608" cy="4572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2C811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Gerador de Setores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200 bases prontas em modelo estrela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97480" y="2194560"/>
            <a:ext cx="292608" cy="4572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01B8AA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Automatizar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Sua planilha vira medidas DAX + TMDL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2194560"/>
            <a:ext cx="292608" cy="4572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D625E"/>
                </a:solidFill>
                <a:latin typeface="Segoe UI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Simulador PL-300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Quiz de pratica pra certificacao oficial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2194560"/>
            <a:ext cx="292608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Dados Causais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Relacao causa-efeito conhecida de proposito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79" y="2194560"/>
            <a:ext cx="292608" cy="4572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83879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2C811"/>
                </a:solidFill>
                <a:latin typeface="Segoe UI Semibol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Dimensões Mutáveis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Simula SCD com gabarito verificavel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12680" y="2194560"/>
            <a:ext cx="292608" cy="4572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01B8AA"/>
                </a:solidFill>
                <a:latin typeface="Segoe UI Semibold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Formatar DAX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Expressao bagunçada vira codigo legivel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206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8680" y="4389120"/>
            <a:ext cx="292608" cy="4572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53542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D625E"/>
                </a:solidFill>
                <a:latin typeface="Segoe UI Semibold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77316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Formatar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577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Mesmo principio, pro Power Query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14600" y="4206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697480" y="4389120"/>
            <a:ext cx="292608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97480" y="453542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77316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Auditor de Modelo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80" y="5577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Nota de qualidade pro seu TMDL real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06/16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343400" y="4206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26280" y="4389120"/>
            <a:ext cx="292608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26280" y="453542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477316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DAX Sandbox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5577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Medida DAX calculada de verdade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206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55080" y="4389120"/>
            <a:ext cx="292608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453542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77316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Pergunte aos Dados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577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Pergunta em português vira medida DAX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4206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83879" y="4389120"/>
            <a:ext cx="292608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83879" y="453542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477316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Carrossel Power BI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5577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HTML que roda sozinho, direto do .pbix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2C811"/>
                </a:solidFill>
                <a:latin typeface="Segoe UI Semibold"/>
              </a:rPr>
              <a:t>01 · GERADOR DE SETORES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200 setores, modelo estrela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Busca por setor, periodo livre e volume via slider (100 a 100.000 linhas)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Modo anomalias: 4 tipos de problema pra praticar analise de causa raiz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Deriva temporal (concept drift): mudanca gradual, sem evento unico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Gabarito documentado, util pra quem ensina conferir a analise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2C811"/>
                </a:solidFill>
                <a:latin typeface="Segoe UI Semibold"/>
              </a:rPr>
              <a:t>STAR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250">
                <a:solidFill>
                  <a:srgbClr val="B3B0AD"/>
                </a:solidFill>
                <a:latin typeface="Segoe UI"/>
              </a:rPr>
              <a:t>Fato + dimensoes + dCalendario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250">
                <a:solidFill>
                  <a:srgbClr val="B3B0AD"/>
                </a:solidFill>
                <a:latin typeface="Segoe UI"/>
              </a:rPr>
              <a:t>Relacionamentos integros por sk_/id_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250">
                <a:solidFill>
                  <a:srgbClr val="B3B0AD"/>
                </a:solidFill>
                <a:latin typeface="Segoe UI"/>
              </a:rPr>
              <a:t>Ambiguidade fato-para-fato resolvida no TMDL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07/16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02 · AUTOMATIZAR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O mesmo motor, na sua planilha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Envie .csv/.xlsx e receba medidas DAX + modelo TMDL automaticos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Time Intelligence completo quando existe coluna de data (MoM, YoY, YTD)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Consolidacao automatica de planilhas com o mesmo conjunto de colunas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Reparo automatico de encoding quebrado e colunas mal separadas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1B8AA"/>
                </a:solidFill>
                <a:latin typeface="Segoe UI Semibold"/>
              </a:rPr>
              <a:t>SEM PADRAO FIXO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3B0AD"/>
                </a:solidFill>
                <a:latin typeface="Segoe UI"/>
              </a:rPr>
              <a:t>Funciona em cima dos dados reais que voce enviar, sem depender do padrao Fato/Dimensao dos setores prontos.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08/16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03 · DADOS CAUSAIS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Rela</a:t>
            </a:r>
            <a:r>
              <a:rPr lang="pt-BR" sz="3400" b="1" i="0" dirty="0" err="1">
                <a:solidFill>
                  <a:srgbClr val="F3F2F1"/>
                </a:solidFill>
                <a:latin typeface="Segoe UI Semibold"/>
              </a:rPr>
              <a:t>çã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o causa-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efeito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conhecida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 de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proposito</a:t>
            </a:r>
            <a:endParaRPr sz="34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Escolha causa, efeito, defasagem, confundidor e intensidade de ruido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O efeito e 100% simulado pela formula causal, gabarito sempre confiavel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Serve pra praticar inferencia causal, teste A/B e marketing mix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VALIDADO EM TESTES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0175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3F2F1"/>
                </a:solidFill>
                <a:latin typeface="Segoe UI Semibold"/>
              </a:rPr>
              <a:t>0,21  →  0,93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79476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3B0AD"/>
                </a:solidFill>
                <a:latin typeface="Segoe UI"/>
              </a:rPr>
              <a:t>Correlacao medida sem e com a defasagem correta, confirmando que o mecanismo causal se manifesta nos dados.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09/16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D4AF0A"/>
                </a:solidFill>
                <a:latin typeface="Segoe UI Semibold"/>
              </a:rPr>
              <a:t>04 · FERRAMENTAS DAX &amp; TMDL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Formate, audite e calcule de verdade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" y="2212848"/>
            <a:ext cx="310896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37744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Formatar DAX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6148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Expressao bagunçada vira codigo indentado e legivel, sem depender de servico externo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62472" y="201168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2212848"/>
            <a:ext cx="310896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237744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Formatar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76148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Mesmo principio do formatador de DAX, adaptado pra sintaxe do Power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9476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6968" y="3995928"/>
            <a:ext cx="310896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416052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Auditor de 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4456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Cole o TMDL real do seu modelo e receba nota de 0 a 100 com achados acionaveis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379476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995928"/>
            <a:ext cx="310896" cy="4445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416052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DAX 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54456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SUM, CALCULATE, DIVIDE e mais, calculados de verdade contra os dados gerados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10/16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05 · SIMULADOR PL-300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Pratique para a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certifica</a:t>
            </a:r>
            <a:r>
              <a:rPr lang="pt-BR" sz="3400" b="1" i="0" dirty="0" err="1">
                <a:solidFill>
                  <a:srgbClr val="F3F2F1"/>
                </a:solidFill>
                <a:latin typeface="Segoe UI Semibold"/>
              </a:rPr>
              <a:t>çã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o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oficial</a:t>
            </a:r>
            <a:endParaRPr sz="34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Perguntas 100% originais, organizadas nos 4 dominios oficiais do exame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Correcao com nota geral, nota por dominio e explicacao de cada resposta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Progresso pessoal ao longo do tempo, sem login e sem ranking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1B8AA"/>
                </a:solidFill>
                <a:latin typeface="Segoe UI Semibold"/>
              </a:rPr>
              <a:t>4 DOMINIOS OFICIAIS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Preparar os dados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Modelar os dados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Visualizar e analisar os dados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Gerenciar e proteger o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11/16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06 · PERGUNTE AOS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Pergunte em português, receba o DAX</a:t>
            </a:r>
            <a:r>
              <a:rPr lang="pt-BR"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endParaRPr sz="34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Escreva uma pergunta de negocio e veja a resposta calculada de verdade, com a medida DAX equivalente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Suporta agregacao, ranking, filtro por periodo e comparacao entre dois periodos (ex.: Jan/22 vs Jan/23)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Sem LLM: motor de reconhecimento de padroes que recusa pergunta fora do escopo em vez de arriscar resposta errada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TRADUÇÃO EM TEMPO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0175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3F2F1"/>
                </a:solidFill>
                <a:latin typeface="Segoe UI Semibold"/>
              </a:rPr>
              <a:t>Pergunta  →  DAX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8862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3B0AD"/>
                </a:solidFill>
                <a:latin typeface="Segoe UI"/>
              </a:rPr>
              <a:t>Voce escreve a pergunta; a ferramenta devolve a medida DAX equivalente e o valor ja calculado contra os dados de verdade.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12/16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07 · CARROSSEL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Da TV parada ao painel girando sozinho</a:t>
            </a:r>
            <a:r>
              <a:rPr lang="pt-BR"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endParaRPr sz="34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Envie o .pbix do relatorio publicado e marque quais paginas quer exibir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Cole o link do Power BI Service - a ferramenta identifica sozinha o reportId e o ctid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Baixe um HTML autonomo com barra de progresso, pronto pra rodar em loop numa TV ou monitor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PRONTO EM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0175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3F2F1"/>
                </a:solidFill>
                <a:latin typeface="Segoe UI Semibold"/>
              </a:rPr>
              <a:t>.pbix  →  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79476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3B0AD"/>
                </a:solidFill>
                <a:latin typeface="Segoe UI"/>
              </a:rPr>
              <a:t>Sem mensalidade nem conta em servico de terceiro - so o link do relatorio que voce ja publicou.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13/16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EXPORTACAO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Do CSV ao banco relacional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SQL Server, PostgreSQL e MySQL, com tipos mapeados automaticamente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DDL, INSERT ou script completo, prontos pra colar no SSMS/DBeaver/psql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Views de Relatorios Gerenciais deduzidas automaticamente pra qualquer setor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VIEWS AUTOMATICAS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KPIs executivos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Evolucao mensal e anual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Variacao %MoM / %YoY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Ranking top 20 por dimensao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14/16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POR BAIXO DO CAPO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Stack simples, sem depender de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5193792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240280"/>
            <a:ext cx="365760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2C811"/>
                </a:solidFill>
                <a:latin typeface="Segoe UI Semibold"/>
              </a:rPr>
              <a:t>TECNOLOGIA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754880" cy="13227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Streamlit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+ Python 3.10+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b="0" dirty="0">
                <a:solidFill>
                  <a:srgbClr val="B3B0AD"/>
                </a:solidFill>
                <a:latin typeface="Segoe UI"/>
              </a:rPr>
              <a:t>pandas e numpy para geracao de dados</a:t>
            </a:r>
            <a:r>
              <a:rPr lang="pt-BR" sz="1300" dirty="0" err="1">
                <a:solidFill>
                  <a:srgbClr val="B3B0AD"/>
                </a:solidFill>
                <a:latin typeface="Segoe UI"/>
              </a:rPr>
              <a:t/>
            </a:r>
            <a:r>
              <a:rPr sz="1300" dirty="0">
                <a:solidFill>
                  <a:srgbClr val="B3B0AD"/>
                </a:solidFill>
                <a:latin typeface="Segoe UI"/>
              </a:rPr>
              <a:t/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/>
            </a:r>
            <a:r>
              <a:rPr sz="1300" dirty="0">
                <a:solidFill>
                  <a:srgbClr val="B3B0AD"/>
                </a:solidFill>
                <a:latin typeface="Segoe UI"/>
              </a:rPr>
              <a:t/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/>
            </a:r>
            <a:r>
              <a:rPr sz="1300" dirty="0">
                <a:solidFill>
                  <a:srgbClr val="B3B0AD"/>
                </a:solidFill>
                <a:latin typeface="Segoe UI"/>
              </a:rPr>
              <a:t/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Faker para dados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ficticios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realistas</a:t>
            </a:r>
            <a:endParaRPr sz="1300" dirty="0">
              <a:solidFill>
                <a:srgbClr val="B3B0AD"/>
              </a:solidFill>
              <a:latin typeface="Segoe UI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Plotly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para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os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graficos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do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2011680"/>
            <a:ext cx="5193792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01384" y="2240280"/>
            <a:ext cx="365760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2560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1B8AA"/>
                </a:solidFill>
                <a:latin typeface="Segoe UI Semibold"/>
              </a:rPr>
              <a:t>EXTRAS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92608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300">
                <a:solidFill>
                  <a:srgbClr val="B3B0AD"/>
                </a:solidFill>
                <a:latin typeface="Segoe UI"/>
              </a:rPr>
              <a:t>Interface bilingue completa (PT-BR / EN)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300">
                <a:solidFill>
                  <a:srgbClr val="B3B0AD"/>
                </a:solidFill>
                <a:latin typeface="Segoe UI"/>
              </a:rPr>
              <a:t>Tema visual inspirado na paleta oficial do Power BI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300">
                <a:solidFill>
                  <a:srgbClr val="B3B0AD"/>
                </a:solidFill>
                <a:latin typeface="Segoe UI"/>
              </a:rPr>
              <a:t>100% dos dados sao ficticios, gerados via Faker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15/16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52560" y="2423160"/>
            <a:ext cx="310896" cy="457200"/>
          </a:xfrm>
          <a:prstGeom prst="roundRect">
            <a:avLst>
              <a:gd name="adj" fmla="val 28000"/>
            </a:avLst>
          </a:prstGeom>
          <a:solidFill>
            <a:srgbClr val="7A7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09760" y="2103120"/>
            <a:ext cx="310896" cy="777240"/>
          </a:xfrm>
          <a:prstGeom prst="roundRect">
            <a:avLst>
              <a:gd name="adj" fmla="val 28000"/>
            </a:avLst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66960" y="1737360"/>
            <a:ext cx="310896" cy="1143000"/>
          </a:xfrm>
          <a:prstGeom prst="roundRect">
            <a:avLst>
              <a:gd name="adj" fmla="val 28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424160" y="2240280"/>
            <a:ext cx="310896" cy="640080"/>
          </a:xfrm>
          <a:prstGeom prst="roundRect">
            <a:avLst>
              <a:gd name="adj" fmla="val 28000"/>
            </a:avLst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881360" y="1920240"/>
            <a:ext cx="310896" cy="960120"/>
          </a:xfrm>
          <a:prstGeom prst="roundRect">
            <a:avLst>
              <a:gd name="adj" fmla="val 28000"/>
            </a:avLst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40">
                <a:solidFill>
                  <a:srgbClr val="F2C811"/>
                </a:solidFill>
                <a:latin typeface="Segoe UI Semibold"/>
              </a:rPr>
              <a:t>COMECE AGORA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9875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3F2F1"/>
                </a:solidFill>
                <a:latin typeface="Segoe UI Semibold"/>
              </a:rPr>
              <a:t>Gere sua primeira base
em segundos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43400"/>
            <a:ext cx="502920" cy="317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2C811"/>
                </a:solidFill>
                <a:latin typeface="Segoe UI Semibold"/>
              </a:rPr>
              <a:t>rodrigoaiosa.streamlit.app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957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Segoe UI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RODRIGO</dc:creator>
  <cp:keywords/>
  <dc:description>generated using python-pptx</dc:description>
  <cp:lastModifiedBy>Rodrigo Aiosa</cp:lastModifiedBy>
  <cp:revision>1</cp:revision>
  <dcterms:created xsi:type="dcterms:W3CDTF">2013-01-27T09:14:16Z</dcterms:created>
  <dcterms:modified xsi:type="dcterms:W3CDTF">2026-08-31T15:20:51Z</dcterms:modified>
  <cp:category/>
</cp:coreProperties>
</file>