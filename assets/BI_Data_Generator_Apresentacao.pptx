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1" r:id="rId22"/>
    <p:sldId id="270" r:id="rId21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openxmlformats.org/officeDocument/2006/relationships/slide" Target="slides/slide13.xml"/><Relationship Id="rId22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drigo Aiosa" userId="0816740ef5516908" providerId="LiveId" clId="{55D8B7BC-FA06-40D3-A55F-1FA74549701A}"/>
    <pc:docChg chg="custSel modSld">
      <pc:chgData name="Rodrigo Aiosa" userId="0816740ef5516908" providerId="LiveId" clId="{55D8B7BC-FA06-40D3-A55F-1FA74549701A}" dt="2026-08-31T15:20:49.282" v="26" actId="20577"/>
      <pc:docMkLst>
        <pc:docMk/>
      </pc:docMkLst>
      <pc:sldChg chg="modSp mod">
        <pc:chgData name="Rodrigo Aiosa" userId="0816740ef5516908" providerId="LiveId" clId="{55D8B7BC-FA06-40D3-A55F-1FA74549701A}" dt="2026-08-31T11:35:14.146" v="16" actId="20577"/>
        <pc:sldMkLst>
          <pc:docMk/>
          <pc:sldMk cId="0" sldId="256"/>
        </pc:sldMkLst>
        <pc:spChg chg="mod">
          <ac:chgData name="Rodrigo Aiosa" userId="0816740ef5516908" providerId="LiveId" clId="{55D8B7BC-FA06-40D3-A55F-1FA74549701A}" dt="2026-08-31T11:35:14.146" v="16" actId="20577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19:24.936" v="19" actId="20577"/>
        <pc:sldMkLst>
          <pc:docMk/>
          <pc:sldMk cId="0" sldId="258"/>
        </pc:sldMkLst>
        <pc:spChg chg="mod">
          <ac:chgData name="Rodrigo Aiosa" userId="0816740ef5516908" providerId="LiveId" clId="{55D8B7BC-FA06-40D3-A55F-1FA74549701A}" dt="2026-08-31T15:19:24.936" v="19" actId="20577"/>
          <ac:spMkLst>
            <pc:docMk/>
            <pc:sldMk cId="0" sldId="258"/>
            <ac:spMk id="7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20:49.282" v="26" actId="20577"/>
        <pc:sldMkLst>
          <pc:docMk/>
          <pc:sldMk cId="0" sldId="260"/>
        </pc:sldMkLst>
        <pc:spChg chg="mod">
          <ac:chgData name="Rodrigo Aiosa" userId="0816740ef5516908" providerId="LiveId" clId="{55D8B7BC-FA06-40D3-A55F-1FA74549701A}" dt="2026-08-31T15:20:49.282" v="26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Rodrigo Aiosa" userId="0816740ef5516908" providerId="LiveId" clId="{55D8B7BC-FA06-40D3-A55F-1FA74549701A}" dt="2026-08-31T15:20:45.638" v="24" actId="20577"/>
          <ac:spMkLst>
            <pc:docMk/>
            <pc:sldMk cId="0" sldId="260"/>
            <ac:spMk id="6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44.822" v="12" actId="20577"/>
        <pc:sldMkLst>
          <pc:docMk/>
          <pc:sldMk cId="0" sldId="264"/>
        </pc:sldMkLst>
        <pc:spChg chg="mod">
          <ac:chgData name="Rodrigo Aiosa" userId="0816740ef5516908" providerId="LiveId" clId="{55D8B7BC-FA06-40D3-A55F-1FA74549701A}" dt="2026-08-31T11:34:44.822" v="12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35.038" v="10" actId="20577"/>
        <pc:sldMkLst>
          <pc:docMk/>
          <pc:sldMk cId="0" sldId="266"/>
        </pc:sldMkLst>
        <pc:spChg chg="mod">
          <ac:chgData name="Rodrigo Aiosa" userId="0816740ef5516908" providerId="LiveId" clId="{55D8B7BC-FA06-40D3-A55F-1FA74549701A}" dt="2026-08-31T11:34:35.038" v="10" actId="20577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22.965" v="6" actId="20577"/>
        <pc:sldMkLst>
          <pc:docMk/>
          <pc:sldMk cId="0" sldId="268"/>
        </pc:sldMkLst>
        <pc:spChg chg="mod">
          <ac:chgData name="Rodrigo Aiosa" userId="0816740ef5516908" providerId="LiveId" clId="{55D8B7BC-FA06-40D3-A55F-1FA74549701A}" dt="2026-08-31T11:34:22.965" v="6" actId="20577"/>
          <ac:spMkLst>
            <pc:docMk/>
            <pc:sldMk cId="0" sldId="268"/>
            <ac:spMk id="7" creationId="{00000000-0000-0000-0000-000000000000}"/>
          </ac:spMkLst>
        </pc:spChg>
      </pc:sldChg>
      <pc:sldChg chg="delSp mod">
        <pc:chgData name="Rodrigo Aiosa" userId="0816740ef5516908" providerId="LiveId" clId="{55D8B7BC-FA06-40D3-A55F-1FA74549701A}" dt="2026-08-31T11:34:15.093" v="0" actId="478"/>
        <pc:sldMkLst>
          <pc:docMk/>
          <pc:sldMk cId="0" sldId="269"/>
        </pc:sldMkLst>
        <pc:spChg chg="del">
          <ac:chgData name="Rodrigo Aiosa" userId="0816740ef5516908" providerId="LiveId" clId="{55D8B7BC-FA06-40D3-A55F-1FA74549701A}" dt="2026-08-31T11:34:15.093" v="0" actId="478"/>
          <ac:spMkLst>
            <pc:docMk/>
            <pc:sldMk cId="0" sldId="269"/>
            <ac:spMk id="12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14884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182880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46304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196596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64592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01B8AA"/>
                </a:solidFill>
                <a:latin typeface="Segoe UI Semibold"/>
              </a:rPr>
              <a:t>FERRAMENTA DE ESTUDO PARA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1051560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 dirty="0">
                <a:solidFill>
                  <a:srgbClr val="F3F2F1"/>
                </a:solidFill>
                <a:latin typeface="Segoe UI Semibold"/>
              </a:rPr>
              <a:t>BI Data Generator</a:t>
            </a:r>
            <a:r>
              <a:rPr lang="pt-BR" sz="5600" b="1" i="0" dirty="0">
                <a:solidFill>
                  <a:srgbClr val="F3F2F1"/>
                </a:solidFill>
                <a:latin typeface="Segoe UI Semibold"/>
              </a:rPr>
              <a:t> PRO</a:t>
            </a:r>
            <a:endParaRPr sz="56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8778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B3B0AD"/>
                </a:solidFill>
                <a:latin typeface="Segoe UI"/>
              </a:rPr>
              <a:t>Dados sinteticos em modelo estrela, medidas DAX e modelo TMDL prontos
para praticar Power BI, DAX, SQL e modelagem dimensional.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89204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5029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7A7774"/>
                </a:solidFill>
                <a:latin typeface="Segoe UI Semibold"/>
              </a:rPr>
              <a:t>200 SETORES  ·  10.686 MEDIDAS DAX  ·  11 FERRAMENTAS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Falta dado bom pra praticar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612648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Criar tabelas na mao e lento e nunca tem sazonalidade real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Bases publicas raramente refletem um modelo dimensional coerente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Dados reais costumam ser sensiveis ou dificeis de conseguir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0" y="1965960"/>
            <a:ext cx="4069080" cy="329184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35240" y="219456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35240" y="2514600"/>
            <a:ext cx="35661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3F2F1"/>
                </a:solidFill>
                <a:latin typeface="Segoe UI Semibold"/>
              </a:rPr>
              <a:t>Resultado: horas montando planilha do zero em vez de praticar analise de verdade.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02/16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A SOLUCAO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Escolha. Configure. Gere.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71800"/>
            <a:ext cx="457200" cy="3810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Escolha o setor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39312"/>
            <a:ext cx="3291840" cy="457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pt-BR" sz="1250" b="0" i="0" dirty="0">
                <a:solidFill>
                  <a:srgbClr val="B3B0AD"/>
                </a:solidFill>
                <a:latin typeface="Segoe UI"/>
              </a:rPr>
              <a:t>200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bases de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negocio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prontas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, com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busca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barra lateral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2971800"/>
            <a:ext cx="457200" cy="3810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61688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Defina periodo e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Qualquer intervalo de datas; de 100 a 100.000 linhas na fato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37576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7576" y="2971800"/>
            <a:ext cx="457200" cy="3810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37576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Gere a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7576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Pacote completo pronto em segundos, com barra de progresso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03/16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PACOTE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Tudo pronto pra importar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 Fato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Chaves estrangeiras e metricas numericas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75304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75304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Tabelas Dimensao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Atributos descritivos e chave primaria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2472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dCalendario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Serie temporal pronta pro Power Query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50808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51976" y="221284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51976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Medidas DAX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Sugeridas automaticamente, por categoria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86968" y="4069080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6968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Modelo TMDL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Tabelas, relacionamentos e medidas prontos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74136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575304" y="4069080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75304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Dicionario de dados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75304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PT/EN, explica cada tabela e coluna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62472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63640" y="4069080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63640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Scripts 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DDL/INSERT em 3 dialetos diferentes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50808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951976" y="4069080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51976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Case de negocio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1976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Contexto ficticio com objetivo real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04/16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EM NUMEROS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Escala real, sem esforco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F2C811"/>
                </a:solidFill>
                <a:latin typeface="Segoe UI Semibold"/>
              </a:rPr>
              <a:t>20</a:t>
            </a:r>
            <a:r>
              <a:rPr sz="4600" b="1" i="0" dirty="0">
                <a:solidFill>
                  <a:srgbClr val="F2C811"/>
                </a:solidFill>
                <a:latin typeface="Segoe UI Semibold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setores de negocio prontos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19856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>10.686</a:t>
            </a:r>
            <a:r>
              <a:rPr sz="4600" b="1" i="0" dirty="0">
                <a:solidFill>
                  <a:srgbClr val="01B8AA"/>
                </a:solidFill>
                <a:latin typeface="Segoe UI Semibold"/>
              </a:rPr>
              <a:t/>
            </a:r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/>
            </a:r>
            <a:endParaRPr sz="4600" b="1" i="0" dirty="0">
              <a:solidFill>
                <a:srgbClr val="01B8AA"/>
              </a:solidFill>
              <a:latin typeface="Segoe UI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19856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medidas DAX diferentes, sem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3912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FD625E"/>
                </a:solidFill>
                <a:latin typeface="Segoe UI Semibold"/>
              </a:rPr>
              <a:t>100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3912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linhas configuraveis na fato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D4AF0A"/>
                </a:solidFill>
                <a:latin typeface="Segoe UI Semibold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8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ferramentas dentro de um so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UM APP, ONZE FERRAMENTAS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Da geracao de dados a certificacao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68680" y="2194560"/>
            <a:ext cx="292608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Gerador de Setores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200 bases prontas em modelo estrela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697480" y="2194560"/>
            <a:ext cx="292608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974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Automatizar BI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Sua planilha vira medidas DAX + TMDL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26280" y="2194560"/>
            <a:ext cx="292608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Simulador PL-300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Quiz de pratica pra certificacao oficial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55080" y="219456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50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Dados Causais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Relacao causa-efeito conhecida de proposito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83879" y="2194560"/>
            <a:ext cx="292608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83879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Dimensões Mutáveis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Simula SCD com gabarito verificavel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298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012680" y="2194560"/>
            <a:ext cx="292608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126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Expressao bagunçada vira codigo legivel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68680" y="4389120"/>
            <a:ext cx="292608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686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Mesmo principio, pro Power Query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146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6974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6974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974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74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Nota de qualidade pro seu TMDL real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06/16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3434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5262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262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62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Medida DAX calculada de verdade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22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550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550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Pergunte aos Dados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Pergunta em português vira medida DAX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010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183879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83879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83879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Carrossel Power BI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83879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HTML que roda sozinho, direto do .pbix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2C811"/>
                </a:solidFill>
                <a:latin typeface="Segoe UI Semibold"/>
              </a:rPr>
              <a:t>01 · GERADOR DE SETORES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200 setores, modelo estrela pronto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Busca por setor, periodo livre e volume via slider (100 a 100.000 linhas)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Modo anomalias: 4 tipos de problema pra praticar analise de causa raiz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Deriva temporal (concept drift): mudanca gradual, sem evento unico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Gabarito documentado, util pra quem ensina conferir a analise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STAR 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Fato + dimensoes + dCalendario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Relacionamentos integros por sk_/id_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Ambiguidade fato-para-fato resolvida no TMDL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07/16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02 · AUTOMATIZAR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O mesmo motor, na sua planilha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.csv/.xlsx e receba medidas DAX + modelo TMDL automaticos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Time Intelligence completo quando existe coluna de data (MoM, YoY, YTD)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Consolidacao automatica de planilhas com o mesmo conjunto de colunas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Reparo automatico de encoding quebrado e colunas mal separadas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SEM PADRAO FIXO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Funciona em cima dos dados reais que voce enviar, sem depender do padrao Fato/Dimensao dos setores prontos.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08/16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03 · DADOS CAUSAIS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Rela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causa-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efeito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conhecida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de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proposito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Escolha causa, efeito, defasagem, confundidor e intensidade de ruido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O efeito e 100% simulado pela formula causal, gabarito sempre confiavel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Serve pra praticar inferencia causal, teste A/B e marketing mix modeling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VALIDADO EM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0,21  →  0,93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Correlacao medida sem e com a defasagem correta, confirmando que o mecanismo causal se manifesta nos dados.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09/16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D4AF0A"/>
                </a:solidFill>
                <a:latin typeface="Segoe UI Semibold"/>
              </a:rPr>
              <a:t>04 · FERRAMENTAS DAX &amp; TMDL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Formate, audite e calcule de verdade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Expressao bagunçada vira codigo indentado e legivel, sem depender de servico externo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62472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Mesmo principio do formatador de DAX, adaptado pra sintaxe do Power 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86968" y="399592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Cole o TMDL real do seu modelo e receba nota de 0 a 100 com achados acionaveis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62472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399592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SUM, CALCULATE, DIVIDE e mais, calculados de verdade contra os dados gerados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10/16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05 · SIMULADOR PL-300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Pratique para a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certifica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oficial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Perguntas 100% originais, organizadas nos 4 dominios oficiais do exame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Correcao com nota geral, nota por dominio e explicacao de cada resposta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Progresso pessoal ao longo do tempo, sem login e sem ranking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4 DOMINIOS OFICIAIS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Preparar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Modelar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Visualizar e analisar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Gerenciar e proteger o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11/16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06 · PERGUNTE AOS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Pergunte em português, receba o DAX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Escreva uma pergunta de negocio e veja a resposta calculada de verdade, com a medida DAX equivalente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Suporta agregacao, ranking, filtro por periodo e comparacao entre dois periodos (ex.: Jan/22 vs Jan/23)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Sem LLM: motor de reconhecimento de padroes que recusa pergunta fora do escopo em vez de arriscar resposta errada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TRADUÇÃO EM TEMPO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3F2F1"/>
                </a:solidFill>
                <a:latin typeface="Segoe UI Semibold"/>
              </a:rPr>
              <a:t>Pergunta  →  DAX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88620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Voce escreve a pergunta; a ferramenta devolve a medida DAX equivalente e o valor ja calculado contra os dados de verdade.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12/16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07 · CARROSSEL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Da TV parada ao painel girando sozinho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o .pbix do relatorio publicado e marque quais paginas quer exibir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Cole o link do Power BI Service - a ferramenta identifica sozinha o reportId e o ctid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Baixe um HTML autonomo com barra de progresso, pronto pra rodar em loop numa TV ou monitor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PRONTO EM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.pbix  →  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Sem mensalidade nem conta em servico de terceiro - so o link do relatorio que voce ja publicou.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13/16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EXPORTACAO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Do CSV ao banco relacional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SQL Server, PostgreSQL e MySQL, com tipos mapeados automaticamente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DDL, INSERT ou script completo, prontos pra colar no SSMS/DBeaver/psql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Views de Relatorios Gerenciais deduzidas automaticamente pra qualquer setor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VIEWS AUTOMATICAS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KPIs executivos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Evolucao mensal e anual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Variacao %MoM / %YoY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Ranking top 20 por dimensao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14/16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POR BAIXO DO CAPO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Stack simples, sem depender de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TECNOLOGIA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4754880" cy="13227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Streamlit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+ Python 3.10+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b="0" dirty="0">
                <a:solidFill>
                  <a:srgbClr val="B3B0AD"/>
                </a:solidFill>
                <a:latin typeface="Segoe UI"/>
              </a:rPr>
              <a:t>pandas e numpy para geracao de dados</a:t>
            </a:r>
            <a:r>
              <a:rPr lang="pt-BR"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Faker para dados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ficticios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realistas</a:t>
            </a:r>
            <a:endParaRPr sz="1300" dirty="0">
              <a:solidFill>
                <a:srgbClr val="B3B0AD"/>
              </a:solidFill>
              <a:latin typeface="Segoe UI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Plotly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para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graficos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do 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01384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01384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EXTRAS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2926080"/>
            <a:ext cx="47548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Interface bilingue completa (PT-BR / EN)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Tema visual inspirado na paleta oficial do Power BI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100% dos dados sao ficticios, gerados via Faker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42316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210312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73736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224028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92024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F2C811"/>
                </a:solidFill>
                <a:latin typeface="Segoe UI Semibold"/>
              </a:rPr>
              <a:t>COMECE AGORA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80360"/>
            <a:ext cx="9875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3F2F1"/>
                </a:solidFill>
                <a:latin typeface="Segoe UI Semibold"/>
              </a:rPr>
              <a:t>Gere sua primeira base
em segundos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34340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805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957</Words>
  <Application>Microsoft Office PowerPoint</Application>
  <PresentationFormat>Widescreen</PresentationFormat>
  <Paragraphs>170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Segoe UI Semibold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RODRIGO</dc:creator>
  <cp:keywords/>
  <dc:description>generated using python-pptx</dc:description>
  <cp:lastModifiedBy>Rodrigo Aiosa</cp:lastModifiedBy>
  <cp:revision>1</cp:revision>
  <dcterms:created xsi:type="dcterms:W3CDTF">2013-01-27T09:14:16Z</dcterms:created>
  <dcterms:modified xsi:type="dcterms:W3CDTF">2026-08-31T15:20:51Z</dcterms:modified>
  <cp:category/>
</cp:coreProperties>
</file>