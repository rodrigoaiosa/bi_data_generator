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ngesInfos/changesInfo1.xml" ContentType="application/vnd.ms-powerpoint.changesinfo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71" r:id="rId22"/>
    <p:sldId id="270" r:id="rId21"/>
    <p:sldId id="267" r:id="rId13"/>
    <p:sldId id="268" r:id="rId14"/>
    <p:sldId id="269" r:id="rId15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107" d="100"/>
          <a:sy n="107" d="100"/>
        </p:scale>
        <p:origin x="714" y="114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4.xml"/><Relationship Id="rId14" Type="http://schemas.openxmlformats.org/officeDocument/2006/relationships/slide" Target="slides/slide15.xml"/><Relationship Id="rId15" Type="http://schemas.openxmlformats.org/officeDocument/2006/relationships/slide" Target="slides/slide16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Relationship Id="rId20" Type="http://schemas.microsoft.com/office/2016/11/relationships/changesInfo" Target="changesInfos/changesInfo1.xml"/><Relationship Id="rId21" Type="http://schemas.openxmlformats.org/officeDocument/2006/relationships/slide" Target="slides/slide13.xml"/><Relationship Id="rId22" Type="http://schemas.openxmlformats.org/officeDocument/2006/relationships/slide" Target="slides/slide12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Rodrigo Aiosa" userId="0816740ef5516908" providerId="LiveId" clId="{55D8B7BC-FA06-40D3-A55F-1FA74549701A}"/>
    <pc:docChg chg="custSel modSld">
      <pc:chgData name="Rodrigo Aiosa" userId="0816740ef5516908" providerId="LiveId" clId="{55D8B7BC-FA06-40D3-A55F-1FA74549701A}" dt="2026-08-31T15:20:49.282" v="26" actId="20577"/>
      <pc:docMkLst>
        <pc:docMk/>
      </pc:docMkLst>
      <pc:sldChg chg="modSp mod">
        <pc:chgData name="Rodrigo Aiosa" userId="0816740ef5516908" providerId="LiveId" clId="{55D8B7BC-FA06-40D3-A55F-1FA74549701A}" dt="2026-08-31T11:35:14.146" v="16" actId="20577"/>
        <pc:sldMkLst>
          <pc:docMk/>
          <pc:sldMk cId="0" sldId="256"/>
        </pc:sldMkLst>
        <pc:spChg chg="mod">
          <ac:chgData name="Rodrigo Aiosa" userId="0816740ef5516908" providerId="LiveId" clId="{55D8B7BC-FA06-40D3-A55F-1FA74549701A}" dt="2026-08-31T11:35:14.146" v="16" actId="20577"/>
          <ac:spMkLst>
            <pc:docMk/>
            <pc:sldMk cId="0" sldId="256"/>
            <ac:spMk id="9" creationId="{00000000-0000-0000-0000-000000000000}"/>
          </ac:spMkLst>
        </pc:spChg>
      </pc:sldChg>
      <pc:sldChg chg="modSp mod">
        <pc:chgData name="Rodrigo Aiosa" userId="0816740ef5516908" providerId="LiveId" clId="{55D8B7BC-FA06-40D3-A55F-1FA74549701A}" dt="2026-08-31T15:19:24.936" v="19" actId="20577"/>
        <pc:sldMkLst>
          <pc:docMk/>
          <pc:sldMk cId="0" sldId="258"/>
        </pc:sldMkLst>
        <pc:spChg chg="mod">
          <ac:chgData name="Rodrigo Aiosa" userId="0816740ef5516908" providerId="LiveId" clId="{55D8B7BC-FA06-40D3-A55F-1FA74549701A}" dt="2026-08-31T15:19:24.936" v="19" actId="20577"/>
          <ac:spMkLst>
            <pc:docMk/>
            <pc:sldMk cId="0" sldId="258"/>
            <ac:spMk id="7" creationId="{00000000-0000-0000-0000-000000000000}"/>
          </ac:spMkLst>
        </pc:spChg>
      </pc:sldChg>
      <pc:sldChg chg="modSp mod">
        <pc:chgData name="Rodrigo Aiosa" userId="0816740ef5516908" providerId="LiveId" clId="{55D8B7BC-FA06-40D3-A55F-1FA74549701A}" dt="2026-08-31T15:20:49.282" v="26" actId="20577"/>
        <pc:sldMkLst>
          <pc:docMk/>
          <pc:sldMk cId="0" sldId="260"/>
        </pc:sldMkLst>
        <pc:spChg chg="mod">
          <ac:chgData name="Rodrigo Aiosa" userId="0816740ef5516908" providerId="LiveId" clId="{55D8B7BC-FA06-40D3-A55F-1FA74549701A}" dt="2026-08-31T15:20:49.282" v="26" actId="20577"/>
          <ac:spMkLst>
            <pc:docMk/>
            <pc:sldMk cId="0" sldId="260"/>
            <ac:spMk id="4" creationId="{00000000-0000-0000-0000-000000000000}"/>
          </ac:spMkLst>
        </pc:spChg>
        <pc:spChg chg="mod">
          <ac:chgData name="Rodrigo Aiosa" userId="0816740ef5516908" providerId="LiveId" clId="{55D8B7BC-FA06-40D3-A55F-1FA74549701A}" dt="2026-08-31T15:20:45.638" v="24" actId="20577"/>
          <ac:spMkLst>
            <pc:docMk/>
            <pc:sldMk cId="0" sldId="260"/>
            <ac:spMk id="6" creationId="{00000000-0000-0000-0000-000000000000}"/>
          </ac:spMkLst>
        </pc:spChg>
      </pc:sldChg>
      <pc:sldChg chg="modSp mod">
        <pc:chgData name="Rodrigo Aiosa" userId="0816740ef5516908" providerId="LiveId" clId="{55D8B7BC-FA06-40D3-A55F-1FA74549701A}" dt="2026-08-31T11:34:44.822" v="12" actId="20577"/>
        <pc:sldMkLst>
          <pc:docMk/>
          <pc:sldMk cId="0" sldId="264"/>
        </pc:sldMkLst>
        <pc:spChg chg="mod">
          <ac:chgData name="Rodrigo Aiosa" userId="0816740ef5516908" providerId="LiveId" clId="{55D8B7BC-FA06-40D3-A55F-1FA74549701A}" dt="2026-08-31T11:34:44.822" v="12" actId="20577"/>
          <ac:spMkLst>
            <pc:docMk/>
            <pc:sldMk cId="0" sldId="264"/>
            <ac:spMk id="3" creationId="{00000000-0000-0000-0000-000000000000}"/>
          </ac:spMkLst>
        </pc:spChg>
      </pc:sldChg>
      <pc:sldChg chg="modSp mod">
        <pc:chgData name="Rodrigo Aiosa" userId="0816740ef5516908" providerId="LiveId" clId="{55D8B7BC-FA06-40D3-A55F-1FA74549701A}" dt="2026-08-31T11:34:35.038" v="10" actId="20577"/>
        <pc:sldMkLst>
          <pc:docMk/>
          <pc:sldMk cId="0" sldId="266"/>
        </pc:sldMkLst>
        <pc:spChg chg="mod">
          <ac:chgData name="Rodrigo Aiosa" userId="0816740ef5516908" providerId="LiveId" clId="{55D8B7BC-FA06-40D3-A55F-1FA74549701A}" dt="2026-08-31T11:34:35.038" v="10" actId="20577"/>
          <ac:spMkLst>
            <pc:docMk/>
            <pc:sldMk cId="0" sldId="266"/>
            <ac:spMk id="3" creationId="{00000000-0000-0000-0000-000000000000}"/>
          </ac:spMkLst>
        </pc:spChg>
      </pc:sldChg>
      <pc:sldChg chg="modSp mod">
        <pc:chgData name="Rodrigo Aiosa" userId="0816740ef5516908" providerId="LiveId" clId="{55D8B7BC-FA06-40D3-A55F-1FA74549701A}" dt="2026-08-31T11:34:22.965" v="6" actId="20577"/>
        <pc:sldMkLst>
          <pc:docMk/>
          <pc:sldMk cId="0" sldId="268"/>
        </pc:sldMkLst>
        <pc:spChg chg="mod">
          <ac:chgData name="Rodrigo Aiosa" userId="0816740ef5516908" providerId="LiveId" clId="{55D8B7BC-FA06-40D3-A55F-1FA74549701A}" dt="2026-08-31T11:34:22.965" v="6" actId="20577"/>
          <ac:spMkLst>
            <pc:docMk/>
            <pc:sldMk cId="0" sldId="268"/>
            <ac:spMk id="7" creationId="{00000000-0000-0000-0000-000000000000}"/>
          </ac:spMkLst>
        </pc:spChg>
      </pc:sldChg>
      <pc:sldChg chg="delSp mod">
        <pc:chgData name="Rodrigo Aiosa" userId="0816740ef5516908" providerId="LiveId" clId="{55D8B7BC-FA06-40D3-A55F-1FA74549701A}" dt="2026-08-31T11:34:15.093" v="0" actId="478"/>
        <pc:sldMkLst>
          <pc:docMk/>
          <pc:sldMk cId="0" sldId="269"/>
        </pc:sldMkLst>
        <pc:spChg chg="del">
          <ac:chgData name="Rodrigo Aiosa" userId="0816740ef5516908" providerId="LiveId" clId="{55D8B7BC-FA06-40D3-A55F-1FA74549701A}" dt="2026-08-31T11:34:15.093" v="0" actId="478"/>
          <ac:spMkLst>
            <pc:docMk/>
            <pc:sldMk cId="0" sldId="269"/>
            <ac:spMk id="12" creationId="{00000000-0000-0000-0000-000000000000}"/>
          </ac:spMkLst>
        </pc:spChg>
      </pc:sldChg>
    </pc:docChg>
  </pc:docChgLst>
</pc:chgInfo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8/31/2026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8/31/2026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8/31/2026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8/31/2026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8/31/2026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8/31/2026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8/31/2026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8/31/2026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8/31/2026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8/31/2026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8/31/2026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8/31/2026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2121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F2C8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9052560" y="2148840"/>
            <a:ext cx="310896" cy="457200"/>
          </a:xfrm>
          <a:prstGeom prst="roundRect">
            <a:avLst>
              <a:gd name="adj" fmla="val 28000"/>
            </a:avLst>
          </a:prstGeom>
          <a:solidFill>
            <a:srgbClr val="7A77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ounded Rectangle 3"/>
          <p:cNvSpPr/>
          <p:nvPr/>
        </p:nvSpPr>
        <p:spPr>
          <a:xfrm>
            <a:off x="9509760" y="1828800"/>
            <a:ext cx="310896" cy="777240"/>
          </a:xfrm>
          <a:prstGeom prst="roundRect">
            <a:avLst>
              <a:gd name="adj" fmla="val 28000"/>
            </a:avLst>
          </a:prstGeom>
          <a:solidFill>
            <a:srgbClr val="01B8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ounded Rectangle 4"/>
          <p:cNvSpPr/>
          <p:nvPr/>
        </p:nvSpPr>
        <p:spPr>
          <a:xfrm>
            <a:off x="9966960" y="1463040"/>
            <a:ext cx="310896" cy="1143000"/>
          </a:xfrm>
          <a:prstGeom prst="roundRect">
            <a:avLst>
              <a:gd name="adj" fmla="val 28000"/>
            </a:avLst>
          </a:prstGeom>
          <a:solidFill>
            <a:srgbClr val="F2C8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10424160" y="1965960"/>
            <a:ext cx="310896" cy="640080"/>
          </a:xfrm>
          <a:prstGeom prst="roundRect">
            <a:avLst>
              <a:gd name="adj" fmla="val 28000"/>
            </a:avLst>
          </a:prstGeom>
          <a:solidFill>
            <a:srgbClr val="FD62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ounded Rectangle 6"/>
          <p:cNvSpPr/>
          <p:nvPr/>
        </p:nvSpPr>
        <p:spPr>
          <a:xfrm>
            <a:off x="10881360" y="1645920"/>
            <a:ext cx="310896" cy="960120"/>
          </a:xfrm>
          <a:prstGeom prst="roundRect">
            <a:avLst>
              <a:gd name="adj" fmla="val 28000"/>
            </a:avLst>
          </a:prstGeom>
          <a:solidFill>
            <a:srgbClr val="D4AF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685800" y="2286000"/>
            <a:ext cx="96012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1" i="0" spc="240">
                <a:solidFill>
                  <a:srgbClr val="01B8AA"/>
                </a:solidFill>
                <a:latin typeface="Segoe UI Semibold"/>
              </a:rPr>
              <a:t>FERRAMENTA DE ESTUDO PARA POWER BI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2697480"/>
            <a:ext cx="10515600" cy="86177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5600" b="1" i="0" dirty="0">
                <a:solidFill>
                  <a:srgbClr val="F3F2F1"/>
                </a:solidFill>
                <a:latin typeface="Segoe UI Semibold"/>
              </a:rPr>
              <a:t>BI Data Generator</a:t>
            </a:r>
            <a:r>
              <a:rPr lang="pt-BR" sz="5600" b="1" i="0" dirty="0">
                <a:solidFill>
                  <a:srgbClr val="F3F2F1"/>
                </a:solidFill>
                <a:latin typeface="Segoe UI Semibold"/>
              </a:rPr>
              <a:t> PRO</a:t>
            </a:r>
            <a:endParaRPr sz="5600" b="1" i="0" dirty="0">
              <a:solidFill>
                <a:srgbClr val="F3F2F1"/>
              </a:solidFill>
              <a:latin typeface="Segoe UI Semibold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685800" y="3703320"/>
            <a:ext cx="8778240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700" b="0" i="0">
                <a:solidFill>
                  <a:srgbClr val="B3B0AD"/>
                </a:solidFill>
                <a:latin typeface="Segoe UI"/>
              </a:rPr>
              <a:t>Dados sinteticos em modelo estrela, medidas DAX e modelo TMDL prontos
para praticar Power BI, DAX, SQL e modelagem dimensional.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85800" y="4892040"/>
            <a:ext cx="502920" cy="31750"/>
          </a:xfrm>
          <a:prstGeom prst="rect">
            <a:avLst/>
          </a:prstGeom>
          <a:solidFill>
            <a:srgbClr val="F2C8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85800" y="5029200"/>
            <a:ext cx="73152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1" i="0">
                <a:solidFill>
                  <a:srgbClr val="F2C811"/>
                </a:solidFill>
                <a:latin typeface="Segoe UI Semibold"/>
              </a:rPr>
              <a:t>rodrigoaiosa.streamlit.app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" y="6309360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1" i="0" spc="150">
                <a:solidFill>
                  <a:srgbClr val="7A7774"/>
                </a:solidFill>
                <a:latin typeface="Segoe UI Semibold"/>
              </a:rPr>
              <a:t>200 SETORES  ·  10.690 MEDIDAS DAX  ·  11 FERRAMENTAS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2121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85800" y="566928"/>
            <a:ext cx="91440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50" b="1" i="0" spc="220">
                <a:solidFill>
                  <a:srgbClr val="FD625E"/>
                </a:solidFill>
                <a:latin typeface="Segoe UI Semibold"/>
              </a:rPr>
              <a:t>O PROBLEMA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932688"/>
            <a:ext cx="10789920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3400" b="1" i="0">
                <a:solidFill>
                  <a:srgbClr val="F3F2F1"/>
                </a:solidFill>
                <a:latin typeface="Segoe UI Semibold"/>
              </a:rPr>
              <a:t>Falta dado bom pra praticar BI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965960"/>
            <a:ext cx="6126480" cy="3291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20000"/>
              </a:lnSpc>
              <a:spcAft>
                <a:spcPts val="1600"/>
              </a:spcAft>
            </a:pPr>
            <a:r>
              <a:rPr sz="1650" b="1">
                <a:solidFill>
                  <a:srgbClr val="FD625E"/>
                </a:solidFill>
                <a:latin typeface="Segoe UI"/>
              </a:rPr>
              <a:t>―  </a:t>
            </a:r>
            <a:r>
              <a:rPr sz="1650">
                <a:solidFill>
                  <a:srgbClr val="B3B0AD"/>
                </a:solidFill>
                <a:latin typeface="Segoe UI"/>
              </a:rPr>
              <a:t>Criar tabelas na mao e lento e nunca tem sazonalidade real</a:t>
            </a:r>
          </a:p>
          <a:p>
            <a:pPr>
              <a:lnSpc>
                <a:spcPct val="120000"/>
              </a:lnSpc>
              <a:spcAft>
                <a:spcPts val="1600"/>
              </a:spcAft>
            </a:pPr>
            <a:r>
              <a:rPr sz="1650" b="1">
                <a:solidFill>
                  <a:srgbClr val="FD625E"/>
                </a:solidFill>
                <a:latin typeface="Segoe UI"/>
              </a:rPr>
              <a:t>―  </a:t>
            </a:r>
            <a:r>
              <a:rPr sz="1650">
                <a:solidFill>
                  <a:srgbClr val="B3B0AD"/>
                </a:solidFill>
                <a:latin typeface="Segoe UI"/>
              </a:rPr>
              <a:t>Bases publicas raramente refletem um modelo dimensional coerente</a:t>
            </a:r>
          </a:p>
          <a:p>
            <a:pPr>
              <a:lnSpc>
                <a:spcPct val="120000"/>
              </a:lnSpc>
              <a:spcAft>
                <a:spcPts val="1600"/>
              </a:spcAft>
            </a:pPr>
            <a:r>
              <a:rPr sz="1650" b="1">
                <a:solidFill>
                  <a:srgbClr val="FD625E"/>
                </a:solidFill>
                <a:latin typeface="Segoe UI"/>
              </a:rPr>
              <a:t>―  </a:t>
            </a:r>
            <a:r>
              <a:rPr sz="1650">
                <a:solidFill>
                  <a:srgbClr val="B3B0AD"/>
                </a:solidFill>
                <a:latin typeface="Segoe UI"/>
              </a:rPr>
              <a:t>Dados reais costumam ser sensiveis ou dificeis de conseguir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406640" y="1965960"/>
            <a:ext cx="4069080" cy="3291840"/>
          </a:xfrm>
          <a:prstGeom prst="roundRect">
            <a:avLst>
              <a:gd name="adj" fmla="val 5000"/>
            </a:avLst>
          </a:prstGeom>
          <a:solidFill>
            <a:srgbClr val="1B1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7635240" y="2194560"/>
            <a:ext cx="365760" cy="44450"/>
          </a:xfrm>
          <a:prstGeom prst="rect">
            <a:avLst/>
          </a:prstGeom>
          <a:solidFill>
            <a:srgbClr val="FD62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7635240" y="2514600"/>
            <a:ext cx="3566160" cy="23774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700" b="1" i="0">
                <a:solidFill>
                  <a:srgbClr val="F3F2F1"/>
                </a:solidFill>
                <a:latin typeface="Segoe UI Semibold"/>
              </a:rPr>
              <a:t>Resultado: horas montando planilha do zero em vez de praticar analise de verdade.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6455664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1" i="0" spc="180">
                <a:solidFill>
                  <a:srgbClr val="7A7774"/>
                </a:solidFill>
                <a:latin typeface="Segoe UI Semibold"/>
              </a:rPr>
              <a:t>BI DATA GENERATOR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0" y="6455664"/>
            <a:ext cx="5486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950" b="0" i="0">
                <a:solidFill>
                  <a:srgbClr val="7A7774"/>
                </a:solidFill>
                <a:latin typeface="Segoe UI"/>
              </a:rPr>
              <a:t>02/16</a:t>
            </a:r>
          </a:p>
        </p:txBody>
      </p:sp>
      <p:sp>
        <p:nvSpPr>
          <p:cNvPr id="10" name="Rectangle 9"/>
          <p:cNvSpPr/>
          <p:nvPr/>
        </p:nvSpPr>
        <p:spPr>
          <a:xfrm>
            <a:off x="685800" y="6382512"/>
            <a:ext cx="256032" cy="27940"/>
          </a:xfrm>
          <a:prstGeom prst="rect">
            <a:avLst/>
          </a:prstGeom>
          <a:solidFill>
            <a:srgbClr val="F2C8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2121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85800" y="566928"/>
            <a:ext cx="91440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50" b="1" i="0" spc="220">
                <a:solidFill>
                  <a:srgbClr val="01B8AA"/>
                </a:solidFill>
                <a:latin typeface="Segoe UI Semibold"/>
              </a:rPr>
              <a:t>A SOLUCAO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932688"/>
            <a:ext cx="10789920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3400" b="1" i="0">
                <a:solidFill>
                  <a:srgbClr val="F3F2F1"/>
                </a:solidFill>
                <a:latin typeface="Segoe UI Semibold"/>
              </a:rPr>
              <a:t>Escolha. Configure. Gere.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2103120"/>
            <a:ext cx="342900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4000" b="1" i="0">
                <a:solidFill>
                  <a:srgbClr val="F2C811"/>
                </a:solidFill>
                <a:latin typeface="Segoe UI Semibold"/>
              </a:rPr>
              <a:t>01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2971800"/>
            <a:ext cx="457200" cy="38100"/>
          </a:xfrm>
          <a:prstGeom prst="rect">
            <a:avLst/>
          </a:prstGeom>
          <a:solidFill>
            <a:srgbClr val="F2C8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685800" y="3154680"/>
            <a:ext cx="342900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700" b="1" i="0">
                <a:solidFill>
                  <a:srgbClr val="F3F2F1"/>
                </a:solidFill>
                <a:latin typeface="Segoe UI Semibold"/>
              </a:rPr>
              <a:t>Escolha o setor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3639312"/>
            <a:ext cx="3291840" cy="45711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lang="pt-BR" sz="1250" b="0" i="0" dirty="0">
                <a:solidFill>
                  <a:srgbClr val="B3B0AD"/>
                </a:solidFill>
                <a:latin typeface="Segoe UI"/>
              </a:rPr>
              <a:t>200</a:t>
            </a:r>
            <a:r>
              <a:rPr sz="1250" b="0" i="0" dirty="0">
                <a:solidFill>
                  <a:srgbClr val="B3B0AD"/>
                </a:solidFill>
                <a:latin typeface="Segoe UI"/>
              </a:rPr>
              <a:t> bases de </a:t>
            </a:r>
            <a:r>
              <a:rPr sz="1250" b="0" i="0" dirty="0" err="1">
                <a:solidFill>
                  <a:srgbClr val="B3B0AD"/>
                </a:solidFill>
                <a:latin typeface="Segoe UI"/>
              </a:rPr>
              <a:t>negocio</a:t>
            </a:r>
            <a:r>
              <a:rPr sz="1250" b="0" i="0" dirty="0">
                <a:solidFill>
                  <a:srgbClr val="B3B0AD"/>
                </a:solidFill>
                <a:latin typeface="Segoe UI"/>
              </a:rPr>
              <a:t> </a:t>
            </a:r>
            <a:r>
              <a:rPr sz="1250" b="0" i="0" dirty="0" err="1">
                <a:solidFill>
                  <a:srgbClr val="B3B0AD"/>
                </a:solidFill>
                <a:latin typeface="Segoe UI"/>
              </a:rPr>
              <a:t>prontas</a:t>
            </a:r>
            <a:r>
              <a:rPr sz="1250" b="0" i="0" dirty="0">
                <a:solidFill>
                  <a:srgbClr val="B3B0AD"/>
                </a:solidFill>
                <a:latin typeface="Segoe UI"/>
              </a:rPr>
              <a:t>, com </a:t>
            </a:r>
            <a:r>
              <a:rPr sz="1250" b="0" i="0" dirty="0" err="1">
                <a:solidFill>
                  <a:srgbClr val="B3B0AD"/>
                </a:solidFill>
                <a:latin typeface="Segoe UI"/>
              </a:rPr>
              <a:t>busca</a:t>
            </a:r>
            <a:r>
              <a:rPr sz="1250" b="0" i="0" dirty="0">
                <a:solidFill>
                  <a:srgbClr val="B3B0AD"/>
                </a:solidFill>
                <a:latin typeface="Segoe UI"/>
              </a:rPr>
              <a:t> </a:t>
            </a:r>
            <a:r>
              <a:rPr sz="1250" b="0" i="0" dirty="0" err="1">
                <a:solidFill>
                  <a:srgbClr val="B3B0AD"/>
                </a:solidFill>
                <a:latin typeface="Segoe UI"/>
              </a:rPr>
              <a:t>na</a:t>
            </a:r>
            <a:r>
              <a:rPr sz="1250" b="0" i="0" dirty="0">
                <a:solidFill>
                  <a:srgbClr val="B3B0AD"/>
                </a:solidFill>
                <a:latin typeface="Segoe UI"/>
              </a:rPr>
              <a:t> barra lateral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61688" y="2103120"/>
            <a:ext cx="342900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4000" b="1" i="0">
                <a:solidFill>
                  <a:srgbClr val="01B8AA"/>
                </a:solidFill>
                <a:latin typeface="Segoe UI Semibold"/>
              </a:rPr>
              <a:t>02</a:t>
            </a:r>
          </a:p>
        </p:txBody>
      </p:sp>
      <p:sp>
        <p:nvSpPr>
          <p:cNvPr id="9" name="Rectangle 8"/>
          <p:cNvSpPr/>
          <p:nvPr/>
        </p:nvSpPr>
        <p:spPr>
          <a:xfrm>
            <a:off x="4361688" y="2971800"/>
            <a:ext cx="457200" cy="38100"/>
          </a:xfrm>
          <a:prstGeom prst="rect">
            <a:avLst/>
          </a:prstGeom>
          <a:solidFill>
            <a:srgbClr val="01B8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4361688" y="3154680"/>
            <a:ext cx="342900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700" b="1" i="0">
                <a:solidFill>
                  <a:srgbClr val="F3F2F1"/>
                </a:solidFill>
                <a:latin typeface="Segoe UI Semibold"/>
              </a:rPr>
              <a:t>Defina periodo e volume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361688" y="3639312"/>
            <a:ext cx="3291840" cy="11887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0" i="0">
                <a:solidFill>
                  <a:srgbClr val="B3B0AD"/>
                </a:solidFill>
                <a:latin typeface="Segoe UI"/>
              </a:rPr>
              <a:t>Qualquer intervalo de datas; de 100 a 100.000 linhas na fato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37576" y="2103120"/>
            <a:ext cx="342900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4000" b="1" i="0">
                <a:solidFill>
                  <a:srgbClr val="FD625E"/>
                </a:solidFill>
                <a:latin typeface="Segoe UI Semibold"/>
              </a:rPr>
              <a:t>03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037576" y="2971800"/>
            <a:ext cx="457200" cy="38100"/>
          </a:xfrm>
          <a:prstGeom prst="rect">
            <a:avLst/>
          </a:prstGeom>
          <a:solidFill>
            <a:srgbClr val="FD62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8037576" y="3154680"/>
            <a:ext cx="342900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700" b="1" i="0">
                <a:solidFill>
                  <a:srgbClr val="F3F2F1"/>
                </a:solidFill>
                <a:latin typeface="Segoe UI Semibold"/>
              </a:rPr>
              <a:t>Gere a base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037576" y="3639312"/>
            <a:ext cx="3291840" cy="11887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0" i="0">
                <a:solidFill>
                  <a:srgbClr val="B3B0AD"/>
                </a:solidFill>
                <a:latin typeface="Segoe UI"/>
              </a:rPr>
              <a:t>Pacote completo pronto em segundos, com barra de progresso real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5800" y="6455664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1" i="0" spc="180">
                <a:solidFill>
                  <a:srgbClr val="7A7774"/>
                </a:solidFill>
                <a:latin typeface="Segoe UI Semibold"/>
              </a:rPr>
              <a:t>BI DATA GENERATOR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972800" y="6455664"/>
            <a:ext cx="5486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950" b="0" i="0">
                <a:solidFill>
                  <a:srgbClr val="7A7774"/>
                </a:solidFill>
                <a:latin typeface="Segoe UI"/>
              </a:rPr>
              <a:t>03/16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85800" y="6382512"/>
            <a:ext cx="256032" cy="27940"/>
          </a:xfrm>
          <a:prstGeom prst="rect">
            <a:avLst/>
          </a:prstGeom>
          <a:solidFill>
            <a:srgbClr val="F2C8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2121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85800" y="566928"/>
            <a:ext cx="91440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50" b="1" i="0" spc="220">
                <a:solidFill>
                  <a:srgbClr val="01B8AA"/>
                </a:solidFill>
                <a:latin typeface="Segoe UI Semibold"/>
              </a:rPr>
              <a:t>PACOTE COMPLETO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932688"/>
            <a:ext cx="10789920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3400" b="1" i="0">
                <a:solidFill>
                  <a:srgbClr val="F3F2F1"/>
                </a:solidFill>
                <a:latin typeface="Segoe UI Semibold"/>
              </a:rPr>
              <a:t>Tudo pronto pra importar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85800" y="2011680"/>
            <a:ext cx="2551176" cy="1691640"/>
          </a:xfrm>
          <a:prstGeom prst="roundRect">
            <a:avLst>
              <a:gd name="adj" fmla="val 6000"/>
            </a:avLst>
          </a:prstGeom>
          <a:solidFill>
            <a:srgbClr val="1B1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886968" y="2212848"/>
            <a:ext cx="310896" cy="44450"/>
          </a:xfrm>
          <a:prstGeom prst="rect">
            <a:avLst/>
          </a:prstGeom>
          <a:solidFill>
            <a:srgbClr val="F2C8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886968" y="2377440"/>
            <a:ext cx="214884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1" i="0">
                <a:solidFill>
                  <a:srgbClr val="F3F2F1"/>
                </a:solidFill>
                <a:latin typeface="Segoe UI Semibold"/>
              </a:rPr>
              <a:t>Tabela Fato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86968" y="2761488"/>
            <a:ext cx="2148840" cy="777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B3B0AD"/>
                </a:solidFill>
                <a:latin typeface="Segoe UI"/>
              </a:rPr>
              <a:t>Chaves estrangeiras e metricas numericas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374136" y="2011680"/>
            <a:ext cx="2551176" cy="1691640"/>
          </a:xfrm>
          <a:prstGeom prst="roundRect">
            <a:avLst>
              <a:gd name="adj" fmla="val 6000"/>
            </a:avLst>
          </a:prstGeom>
          <a:solidFill>
            <a:srgbClr val="1B1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3575304" y="2212848"/>
            <a:ext cx="310896" cy="44450"/>
          </a:xfrm>
          <a:prstGeom prst="rect">
            <a:avLst/>
          </a:prstGeom>
          <a:solidFill>
            <a:srgbClr val="01B8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3575304" y="2377440"/>
            <a:ext cx="214884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1" i="0">
                <a:solidFill>
                  <a:srgbClr val="F3F2F1"/>
                </a:solidFill>
                <a:latin typeface="Segoe UI Semibold"/>
              </a:rPr>
              <a:t>Tabelas Dimensao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575304" y="2761488"/>
            <a:ext cx="2148840" cy="777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B3B0AD"/>
                </a:solidFill>
                <a:latin typeface="Segoe UI"/>
              </a:rPr>
              <a:t>Atributos descritivos e chave primaria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062472" y="2011680"/>
            <a:ext cx="2551176" cy="1691640"/>
          </a:xfrm>
          <a:prstGeom prst="roundRect">
            <a:avLst>
              <a:gd name="adj" fmla="val 6000"/>
            </a:avLst>
          </a:prstGeom>
          <a:solidFill>
            <a:srgbClr val="1B1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6263640" y="2212848"/>
            <a:ext cx="310896" cy="44450"/>
          </a:xfrm>
          <a:prstGeom prst="rect">
            <a:avLst/>
          </a:prstGeom>
          <a:solidFill>
            <a:srgbClr val="FD62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6263640" y="2377440"/>
            <a:ext cx="214884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1" i="0">
                <a:solidFill>
                  <a:srgbClr val="F3F2F1"/>
                </a:solidFill>
                <a:latin typeface="Segoe UI Semibold"/>
              </a:rPr>
              <a:t>dCalendario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63640" y="2761488"/>
            <a:ext cx="2148840" cy="777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B3B0AD"/>
                </a:solidFill>
                <a:latin typeface="Segoe UI"/>
              </a:rPr>
              <a:t>Serie temporal pronta pro Power Query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50808" y="2011680"/>
            <a:ext cx="2551176" cy="1691640"/>
          </a:xfrm>
          <a:prstGeom prst="roundRect">
            <a:avLst>
              <a:gd name="adj" fmla="val 6000"/>
            </a:avLst>
          </a:prstGeom>
          <a:solidFill>
            <a:srgbClr val="1B1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8951976" y="2212848"/>
            <a:ext cx="310896" cy="44450"/>
          </a:xfrm>
          <a:prstGeom prst="rect">
            <a:avLst/>
          </a:prstGeom>
          <a:solidFill>
            <a:srgbClr val="D4AF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8951976" y="2377440"/>
            <a:ext cx="214884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1" i="0">
                <a:solidFill>
                  <a:srgbClr val="F3F2F1"/>
                </a:solidFill>
                <a:latin typeface="Segoe UI Semibold"/>
              </a:rPr>
              <a:t>Medidas DAX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951976" y="2761488"/>
            <a:ext cx="2148840" cy="777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B3B0AD"/>
                </a:solidFill>
                <a:latin typeface="Segoe UI"/>
              </a:rPr>
              <a:t>Sugeridas automaticamente, por categoria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85800" y="3867912"/>
            <a:ext cx="2551176" cy="1691640"/>
          </a:xfrm>
          <a:prstGeom prst="roundRect">
            <a:avLst>
              <a:gd name="adj" fmla="val 6000"/>
            </a:avLst>
          </a:prstGeom>
          <a:solidFill>
            <a:srgbClr val="1B1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ectangle 20"/>
          <p:cNvSpPr/>
          <p:nvPr/>
        </p:nvSpPr>
        <p:spPr>
          <a:xfrm>
            <a:off x="886968" y="4069080"/>
            <a:ext cx="310896" cy="44450"/>
          </a:xfrm>
          <a:prstGeom prst="rect">
            <a:avLst/>
          </a:prstGeom>
          <a:solidFill>
            <a:srgbClr val="F2C8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886968" y="4233672"/>
            <a:ext cx="214884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1" i="0">
                <a:solidFill>
                  <a:srgbClr val="F3F2F1"/>
                </a:solidFill>
                <a:latin typeface="Segoe UI Semibold"/>
              </a:rPr>
              <a:t>Modelo TMDL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86968" y="4617720"/>
            <a:ext cx="2148840" cy="777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B3B0AD"/>
                </a:solidFill>
                <a:latin typeface="Segoe UI"/>
              </a:rPr>
              <a:t>Tabelas, relacionamentos e medidas prontos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3374136" y="3867912"/>
            <a:ext cx="2551176" cy="1691640"/>
          </a:xfrm>
          <a:prstGeom prst="roundRect">
            <a:avLst>
              <a:gd name="adj" fmla="val 6000"/>
            </a:avLst>
          </a:prstGeom>
          <a:solidFill>
            <a:srgbClr val="1B1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Rectangle 24"/>
          <p:cNvSpPr/>
          <p:nvPr/>
        </p:nvSpPr>
        <p:spPr>
          <a:xfrm>
            <a:off x="3575304" y="4069080"/>
            <a:ext cx="310896" cy="44450"/>
          </a:xfrm>
          <a:prstGeom prst="rect">
            <a:avLst/>
          </a:prstGeom>
          <a:solidFill>
            <a:srgbClr val="01B8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3575304" y="4233672"/>
            <a:ext cx="214884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1" i="0">
                <a:solidFill>
                  <a:srgbClr val="F3F2F1"/>
                </a:solidFill>
                <a:latin typeface="Segoe UI Semibold"/>
              </a:rPr>
              <a:t>Dicionario de dados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575304" y="4617720"/>
            <a:ext cx="2148840" cy="777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B3B0AD"/>
                </a:solidFill>
                <a:latin typeface="Segoe UI"/>
              </a:rPr>
              <a:t>PT/EN, explica cada tabela e coluna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062472" y="3867912"/>
            <a:ext cx="2551176" cy="1691640"/>
          </a:xfrm>
          <a:prstGeom prst="roundRect">
            <a:avLst>
              <a:gd name="adj" fmla="val 6000"/>
            </a:avLst>
          </a:prstGeom>
          <a:solidFill>
            <a:srgbClr val="1B1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Rectangle 28"/>
          <p:cNvSpPr/>
          <p:nvPr/>
        </p:nvSpPr>
        <p:spPr>
          <a:xfrm>
            <a:off x="6263640" y="4069080"/>
            <a:ext cx="310896" cy="44450"/>
          </a:xfrm>
          <a:prstGeom prst="rect">
            <a:avLst/>
          </a:prstGeom>
          <a:solidFill>
            <a:srgbClr val="FD62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6263640" y="4233672"/>
            <a:ext cx="214884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1" i="0">
                <a:solidFill>
                  <a:srgbClr val="F3F2F1"/>
                </a:solidFill>
                <a:latin typeface="Segoe UI Semibold"/>
              </a:rPr>
              <a:t>Scripts SQL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263640" y="4617720"/>
            <a:ext cx="2148840" cy="777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B3B0AD"/>
                </a:solidFill>
                <a:latin typeface="Segoe UI"/>
              </a:rPr>
              <a:t>DDL/INSERT em 3 dialetos diferentes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8750808" y="3867912"/>
            <a:ext cx="2551176" cy="1691640"/>
          </a:xfrm>
          <a:prstGeom prst="roundRect">
            <a:avLst>
              <a:gd name="adj" fmla="val 6000"/>
            </a:avLst>
          </a:prstGeom>
          <a:solidFill>
            <a:srgbClr val="1B1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Rectangle 32"/>
          <p:cNvSpPr/>
          <p:nvPr/>
        </p:nvSpPr>
        <p:spPr>
          <a:xfrm>
            <a:off x="8951976" y="4069080"/>
            <a:ext cx="310896" cy="44450"/>
          </a:xfrm>
          <a:prstGeom prst="rect">
            <a:avLst/>
          </a:prstGeom>
          <a:solidFill>
            <a:srgbClr val="D4AF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8951976" y="4233672"/>
            <a:ext cx="214884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1" i="0">
                <a:solidFill>
                  <a:srgbClr val="F3F2F1"/>
                </a:solidFill>
                <a:latin typeface="Segoe UI Semibold"/>
              </a:rPr>
              <a:t>Case de negocio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951976" y="4617720"/>
            <a:ext cx="2148840" cy="777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B3B0AD"/>
                </a:solidFill>
                <a:latin typeface="Segoe UI"/>
              </a:rPr>
              <a:t>Contexto ficticio com objetivo real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85800" y="6455664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1" i="0" spc="180">
                <a:solidFill>
                  <a:srgbClr val="7A7774"/>
                </a:solidFill>
                <a:latin typeface="Segoe UI Semibold"/>
              </a:rPr>
              <a:t>BI DATA GENERATOR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972800" y="6455664"/>
            <a:ext cx="5486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950" b="0" i="0">
                <a:solidFill>
                  <a:srgbClr val="7A7774"/>
                </a:solidFill>
                <a:latin typeface="Segoe UI"/>
              </a:rPr>
              <a:t>04/16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85800" y="6382512"/>
            <a:ext cx="256032" cy="27940"/>
          </a:xfrm>
          <a:prstGeom prst="rect">
            <a:avLst/>
          </a:prstGeom>
          <a:solidFill>
            <a:srgbClr val="F2C8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2121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85800" y="566928"/>
            <a:ext cx="91440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50" b="1" i="0" spc="220">
                <a:solidFill>
                  <a:srgbClr val="01B8AA"/>
                </a:solidFill>
                <a:latin typeface="Segoe UI Semibold"/>
              </a:rPr>
              <a:t>EM NUMEROS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932688"/>
            <a:ext cx="10789920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3400" b="1" i="0">
                <a:solidFill>
                  <a:srgbClr val="F3F2F1"/>
                </a:solidFill>
                <a:latin typeface="Segoe UI Semibold"/>
              </a:rPr>
              <a:t>Escala real, sem esforco manual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2468880"/>
            <a:ext cx="2551176" cy="70788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lang="pt-BR" sz="4600" b="1" i="0" dirty="0">
                <a:solidFill>
                  <a:srgbClr val="F2C811"/>
                </a:solidFill>
                <a:latin typeface="Segoe UI Semibold"/>
              </a:rPr>
              <a:t>20</a:t>
            </a:r>
            <a:r>
              <a:rPr sz="4600" b="1" i="0" dirty="0">
                <a:solidFill>
                  <a:srgbClr val="F2C811"/>
                </a:solidFill>
                <a:latin typeface="Segoe UI Semibold"/>
              </a:rPr>
              <a:t>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3429000"/>
            <a:ext cx="2551176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0" i="0">
                <a:solidFill>
                  <a:srgbClr val="B3B0AD"/>
                </a:solidFill>
                <a:latin typeface="Segoe UI"/>
              </a:rPr>
              <a:t>setores de negocio prontos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419856" y="2468880"/>
            <a:ext cx="2551176" cy="70788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lang="pt-BR" sz="4600" b="1" i="0" dirty="0">
                <a:solidFill>
                  <a:srgbClr val="01B8AA"/>
                </a:solidFill>
                <a:latin typeface="Segoe UI Semibold"/>
              </a:rPr>
              <a:t>10.690</a:t>
            </a:r>
            <a:r>
              <a:rPr sz="4600" b="1" i="0" dirty="0">
                <a:solidFill>
                  <a:srgbClr val="01B8AA"/>
                </a:solidFill>
                <a:latin typeface="Segoe UI Semibold"/>
              </a:rPr>
              <a:t/>
            </a:r>
            <a:r>
              <a:rPr lang="pt-BR" sz="4600" b="1" i="0" dirty="0">
                <a:solidFill>
                  <a:srgbClr val="01B8AA"/>
                </a:solidFill>
                <a:latin typeface="Segoe UI Semibold"/>
              </a:rPr>
              <a:t/>
            </a:r>
            <a:endParaRPr sz="4600" b="1" i="0" dirty="0">
              <a:solidFill>
                <a:srgbClr val="01B8AA"/>
              </a:solidFill>
              <a:latin typeface="Segoe UI Semibold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3419856" y="3429000"/>
            <a:ext cx="2551176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0" i="0">
                <a:solidFill>
                  <a:srgbClr val="B3B0AD"/>
                </a:solidFill>
                <a:latin typeface="Segoe UI"/>
              </a:rPr>
              <a:t>medidas DAX diferentes, sem IA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153912" y="2468880"/>
            <a:ext cx="2551176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4600" b="1" i="0">
                <a:solidFill>
                  <a:srgbClr val="FD625E"/>
                </a:solidFill>
                <a:latin typeface="Segoe UI Semibold"/>
              </a:rPr>
              <a:t>100 mil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153912" y="3429000"/>
            <a:ext cx="2551176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0" i="0">
                <a:solidFill>
                  <a:srgbClr val="B3B0AD"/>
                </a:solidFill>
                <a:latin typeface="Segoe UI"/>
              </a:rPr>
              <a:t>linhas configuraveis na fato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887968" y="2468880"/>
            <a:ext cx="2551176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4600" b="1" i="0">
                <a:solidFill>
                  <a:srgbClr val="D4AF0A"/>
                </a:solidFill>
                <a:latin typeface="Segoe UI Semibold"/>
              </a:rPr>
              <a:t>11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887968" y="3429000"/>
            <a:ext cx="2551176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0" i="0">
                <a:solidFill>
                  <a:srgbClr val="B3B0AD"/>
                </a:solidFill>
                <a:latin typeface="Segoe UI"/>
              </a:rPr>
              <a:t>ferramentas dentro de um so app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800" y="6455664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1" i="0" spc="180">
                <a:solidFill>
                  <a:srgbClr val="7A7774"/>
                </a:solidFill>
                <a:latin typeface="Segoe UI Semibold"/>
              </a:rPr>
              <a:t>BI DATA GENERATOR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0" y="6455664"/>
            <a:ext cx="5486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950" b="0" i="0">
                <a:solidFill>
                  <a:srgbClr val="7A7774"/>
                </a:solidFill>
                <a:latin typeface="Segoe UI"/>
              </a:rPr>
              <a:t>05/16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85800" y="6382512"/>
            <a:ext cx="256032" cy="27940"/>
          </a:xfrm>
          <a:prstGeom prst="rect">
            <a:avLst/>
          </a:prstGeom>
          <a:solidFill>
            <a:srgbClr val="F2C8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2121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85800" y="566928"/>
            <a:ext cx="91440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50" b="1" i="0" spc="220">
                <a:solidFill>
                  <a:srgbClr val="01B8AA"/>
                </a:solidFill>
                <a:latin typeface="Segoe UI Semibold"/>
              </a:rPr>
              <a:t>UM APP, ONZE FERRAMENTAS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932688"/>
            <a:ext cx="10789920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3400" b="1" i="0">
                <a:solidFill>
                  <a:srgbClr val="F3F2F1"/>
                </a:solidFill>
                <a:latin typeface="Segoe UI Semibold"/>
              </a:rPr>
              <a:t>Da geracao de dados a certificacao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85800" y="2011680"/>
            <a:ext cx="1691640" cy="2011680"/>
          </a:xfrm>
          <a:prstGeom prst="roundRect">
            <a:avLst>
              <a:gd name="adj" fmla="val 6000"/>
            </a:avLst>
          </a:prstGeom>
          <a:solidFill>
            <a:srgbClr val="1B1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868680" y="2194560"/>
            <a:ext cx="292608" cy="45720"/>
          </a:xfrm>
          <a:prstGeom prst="rect">
            <a:avLst/>
          </a:prstGeom>
          <a:solidFill>
            <a:srgbClr val="F2C8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868680" y="2340864"/>
            <a:ext cx="132588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1" i="0" spc="150">
                <a:solidFill>
                  <a:srgbClr val="F2C811"/>
                </a:solidFill>
                <a:latin typeface="Segoe UI Semibold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2578608"/>
            <a:ext cx="1325880" cy="777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200" b="1" i="0">
                <a:solidFill>
                  <a:srgbClr val="F3F2F1"/>
                </a:solidFill>
                <a:latin typeface="Segoe UI Semibold"/>
              </a:rPr>
              <a:t>Gerador de Setores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3383280"/>
            <a:ext cx="1325880" cy="5943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i="0">
                <a:solidFill>
                  <a:srgbClr val="B3B0AD"/>
                </a:solidFill>
                <a:latin typeface="Segoe UI"/>
              </a:rPr>
              <a:t>200 bases prontas em modelo estrela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514600" y="2011680"/>
            <a:ext cx="1691640" cy="2011680"/>
          </a:xfrm>
          <a:prstGeom prst="roundRect">
            <a:avLst>
              <a:gd name="adj" fmla="val 6000"/>
            </a:avLst>
          </a:prstGeom>
          <a:solidFill>
            <a:srgbClr val="1B1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2697480" y="2194560"/>
            <a:ext cx="292608" cy="45720"/>
          </a:xfrm>
          <a:prstGeom prst="rect">
            <a:avLst/>
          </a:prstGeom>
          <a:solidFill>
            <a:srgbClr val="01B8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2697480" y="2340864"/>
            <a:ext cx="132588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1" i="0" spc="150">
                <a:solidFill>
                  <a:srgbClr val="01B8AA"/>
                </a:solidFill>
                <a:latin typeface="Segoe UI Semibold"/>
              </a:rPr>
              <a:t>02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697480" y="2578608"/>
            <a:ext cx="1325880" cy="777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200" b="1" i="0">
                <a:solidFill>
                  <a:srgbClr val="F3F2F1"/>
                </a:solidFill>
                <a:latin typeface="Segoe UI Semibold"/>
              </a:rPr>
              <a:t>Automatizar BI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697480" y="3383280"/>
            <a:ext cx="1325880" cy="5943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i="0">
                <a:solidFill>
                  <a:srgbClr val="B3B0AD"/>
                </a:solidFill>
                <a:latin typeface="Segoe UI"/>
              </a:rPr>
              <a:t>Sua planilha vira medidas DAX + TMDL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343400" y="2011680"/>
            <a:ext cx="1691640" cy="2011680"/>
          </a:xfrm>
          <a:prstGeom prst="roundRect">
            <a:avLst>
              <a:gd name="adj" fmla="val 6000"/>
            </a:avLst>
          </a:prstGeom>
          <a:solidFill>
            <a:srgbClr val="1B1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4526280" y="2194560"/>
            <a:ext cx="292608" cy="45720"/>
          </a:xfrm>
          <a:prstGeom prst="rect">
            <a:avLst/>
          </a:prstGeom>
          <a:solidFill>
            <a:srgbClr val="FD62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4526280" y="2340864"/>
            <a:ext cx="132588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1" i="0" spc="150">
                <a:solidFill>
                  <a:srgbClr val="FD625E"/>
                </a:solidFill>
                <a:latin typeface="Segoe UI Semibold"/>
              </a:rPr>
              <a:t>03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26280" y="2578608"/>
            <a:ext cx="1325880" cy="777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200" b="1" i="0">
                <a:solidFill>
                  <a:srgbClr val="F3F2F1"/>
                </a:solidFill>
                <a:latin typeface="Segoe UI Semibold"/>
              </a:rPr>
              <a:t>Simulador PL-300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26280" y="3383280"/>
            <a:ext cx="1325880" cy="5943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i="0">
                <a:solidFill>
                  <a:srgbClr val="B3B0AD"/>
                </a:solidFill>
                <a:latin typeface="Segoe UI"/>
              </a:rPr>
              <a:t>Quiz de pratica pra certificacao oficial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172200" y="2011680"/>
            <a:ext cx="1691640" cy="2011680"/>
          </a:xfrm>
          <a:prstGeom prst="roundRect">
            <a:avLst>
              <a:gd name="adj" fmla="val 6000"/>
            </a:avLst>
          </a:prstGeom>
          <a:solidFill>
            <a:srgbClr val="1B1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ectangle 19"/>
          <p:cNvSpPr/>
          <p:nvPr/>
        </p:nvSpPr>
        <p:spPr>
          <a:xfrm>
            <a:off x="6355080" y="2194560"/>
            <a:ext cx="292608" cy="45720"/>
          </a:xfrm>
          <a:prstGeom prst="rect">
            <a:avLst/>
          </a:prstGeom>
          <a:solidFill>
            <a:srgbClr val="D4AF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6355080" y="2340864"/>
            <a:ext cx="132588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1" i="0" spc="150">
                <a:solidFill>
                  <a:srgbClr val="D4AF0A"/>
                </a:solidFill>
                <a:latin typeface="Segoe UI Semibold"/>
              </a:rPr>
              <a:t>04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55080" y="2578608"/>
            <a:ext cx="1325880" cy="777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200" b="1" i="0">
                <a:solidFill>
                  <a:srgbClr val="F3F2F1"/>
                </a:solidFill>
                <a:latin typeface="Segoe UI Semibold"/>
              </a:rPr>
              <a:t>Dados Causais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55080" y="3383280"/>
            <a:ext cx="1325880" cy="5943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i="0">
                <a:solidFill>
                  <a:srgbClr val="B3B0AD"/>
                </a:solidFill>
                <a:latin typeface="Segoe UI"/>
              </a:rPr>
              <a:t>Relacao causa-efeito conhecida de proposito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001000" y="2011680"/>
            <a:ext cx="1691640" cy="2011680"/>
          </a:xfrm>
          <a:prstGeom prst="roundRect">
            <a:avLst>
              <a:gd name="adj" fmla="val 6000"/>
            </a:avLst>
          </a:prstGeom>
          <a:solidFill>
            <a:srgbClr val="1B1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Rectangle 24"/>
          <p:cNvSpPr/>
          <p:nvPr/>
        </p:nvSpPr>
        <p:spPr>
          <a:xfrm>
            <a:off x="8183879" y="2194560"/>
            <a:ext cx="292608" cy="45720"/>
          </a:xfrm>
          <a:prstGeom prst="rect">
            <a:avLst/>
          </a:prstGeom>
          <a:solidFill>
            <a:srgbClr val="F2C8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8183879" y="2340864"/>
            <a:ext cx="132588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1" i="0" spc="150">
                <a:solidFill>
                  <a:srgbClr val="F2C811"/>
                </a:solidFill>
                <a:latin typeface="Segoe UI Semibold"/>
              </a:rPr>
              <a:t>05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183879" y="2578608"/>
            <a:ext cx="1325880" cy="777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200" b="1" i="0">
                <a:solidFill>
                  <a:srgbClr val="F3F2F1"/>
                </a:solidFill>
                <a:latin typeface="Segoe UI Semibold"/>
              </a:rPr>
              <a:t>Dimensões Mutáveis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183879" y="3383280"/>
            <a:ext cx="1325880" cy="5943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i="0">
                <a:solidFill>
                  <a:srgbClr val="B3B0AD"/>
                </a:solidFill>
                <a:latin typeface="Segoe UI"/>
              </a:rPr>
              <a:t>Simula SCD com gabarito verificavel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9829800" y="2011680"/>
            <a:ext cx="1691640" cy="2011680"/>
          </a:xfrm>
          <a:prstGeom prst="roundRect">
            <a:avLst>
              <a:gd name="adj" fmla="val 6000"/>
            </a:avLst>
          </a:prstGeom>
          <a:solidFill>
            <a:srgbClr val="1B1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Rectangle 29"/>
          <p:cNvSpPr/>
          <p:nvPr/>
        </p:nvSpPr>
        <p:spPr>
          <a:xfrm>
            <a:off x="10012680" y="2194560"/>
            <a:ext cx="292608" cy="45720"/>
          </a:xfrm>
          <a:prstGeom prst="rect">
            <a:avLst/>
          </a:prstGeom>
          <a:solidFill>
            <a:srgbClr val="01B8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10012680" y="2340864"/>
            <a:ext cx="132588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1" i="0" spc="150">
                <a:solidFill>
                  <a:srgbClr val="01B8AA"/>
                </a:solidFill>
                <a:latin typeface="Segoe UI Semibold"/>
              </a:rPr>
              <a:t>06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012680" y="2578608"/>
            <a:ext cx="1325880" cy="777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200" b="1" i="0">
                <a:solidFill>
                  <a:srgbClr val="F3F2F1"/>
                </a:solidFill>
                <a:latin typeface="Segoe UI Semibold"/>
              </a:rPr>
              <a:t>Formatar DAX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012680" y="3383280"/>
            <a:ext cx="1325880" cy="5943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i="0">
                <a:solidFill>
                  <a:srgbClr val="B3B0AD"/>
                </a:solidFill>
                <a:latin typeface="Segoe UI"/>
              </a:rPr>
              <a:t>Expressao bagunçada vira codigo legivel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685800" y="4206240"/>
            <a:ext cx="1691640" cy="2011680"/>
          </a:xfrm>
          <a:prstGeom prst="roundRect">
            <a:avLst>
              <a:gd name="adj" fmla="val 6000"/>
            </a:avLst>
          </a:prstGeom>
          <a:solidFill>
            <a:srgbClr val="1B1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Rectangle 34"/>
          <p:cNvSpPr/>
          <p:nvPr/>
        </p:nvSpPr>
        <p:spPr>
          <a:xfrm>
            <a:off x="868680" y="4389120"/>
            <a:ext cx="292608" cy="45720"/>
          </a:xfrm>
          <a:prstGeom prst="rect">
            <a:avLst/>
          </a:prstGeom>
          <a:solidFill>
            <a:srgbClr val="FD62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868680" y="4535424"/>
            <a:ext cx="132588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1" i="0" spc="150">
                <a:solidFill>
                  <a:srgbClr val="FD625E"/>
                </a:solidFill>
                <a:latin typeface="Segoe UI Semibold"/>
              </a:rPr>
              <a:t>07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68680" y="4773168"/>
            <a:ext cx="1325880" cy="777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200" b="1" i="0">
                <a:solidFill>
                  <a:srgbClr val="F3F2F1"/>
                </a:solidFill>
                <a:latin typeface="Segoe UI Semibold"/>
              </a:rPr>
              <a:t>Formatar M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68680" y="5577840"/>
            <a:ext cx="1325880" cy="5943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i="0">
                <a:solidFill>
                  <a:srgbClr val="B3B0AD"/>
                </a:solidFill>
                <a:latin typeface="Segoe UI"/>
              </a:rPr>
              <a:t>Mesmo principio, pro Power Query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2514600" y="4206240"/>
            <a:ext cx="1691640" cy="2011680"/>
          </a:xfrm>
          <a:prstGeom prst="roundRect">
            <a:avLst>
              <a:gd name="adj" fmla="val 6000"/>
            </a:avLst>
          </a:prstGeom>
          <a:solidFill>
            <a:srgbClr val="1B1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Rectangle 39"/>
          <p:cNvSpPr/>
          <p:nvPr/>
        </p:nvSpPr>
        <p:spPr>
          <a:xfrm>
            <a:off x="2697480" y="4389120"/>
            <a:ext cx="292608" cy="45720"/>
          </a:xfrm>
          <a:prstGeom prst="rect">
            <a:avLst/>
          </a:prstGeom>
          <a:solidFill>
            <a:srgbClr val="D4AF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TextBox 40"/>
          <p:cNvSpPr txBox="1"/>
          <p:nvPr/>
        </p:nvSpPr>
        <p:spPr>
          <a:xfrm>
            <a:off x="2697480" y="4535424"/>
            <a:ext cx="132588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1" i="0" spc="150">
                <a:solidFill>
                  <a:srgbClr val="D4AF0A"/>
                </a:solidFill>
                <a:latin typeface="Segoe UI Semibold"/>
              </a:rPr>
              <a:t>08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2697480" y="4773168"/>
            <a:ext cx="1325880" cy="777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200" b="1" i="0">
                <a:solidFill>
                  <a:srgbClr val="F3F2F1"/>
                </a:solidFill>
                <a:latin typeface="Segoe UI Semibold"/>
              </a:rPr>
              <a:t>Auditor de Modelo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697480" y="5577840"/>
            <a:ext cx="1325880" cy="5943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i="0">
                <a:solidFill>
                  <a:srgbClr val="B3B0AD"/>
                </a:solidFill>
                <a:latin typeface="Segoe UI"/>
              </a:rPr>
              <a:t>Nota de qualidade pro seu TMDL real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85800" y="6455664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1" i="0" spc="180">
                <a:solidFill>
                  <a:srgbClr val="7A7774"/>
                </a:solidFill>
                <a:latin typeface="Segoe UI Semibold"/>
              </a:rPr>
              <a:t>BI DATA GENERATOR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0972800" y="6455664"/>
            <a:ext cx="5486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950" b="0" i="0">
                <a:solidFill>
                  <a:srgbClr val="7A7774"/>
                </a:solidFill>
                <a:latin typeface="Segoe UI"/>
              </a:rPr>
              <a:t>06/16</a:t>
            </a:r>
          </a:p>
        </p:txBody>
      </p:sp>
      <p:sp>
        <p:nvSpPr>
          <p:cNvPr id="46" name="Rectangle 45"/>
          <p:cNvSpPr/>
          <p:nvPr/>
        </p:nvSpPr>
        <p:spPr>
          <a:xfrm>
            <a:off x="685800" y="6382512"/>
            <a:ext cx="256032" cy="27940"/>
          </a:xfrm>
          <a:prstGeom prst="rect">
            <a:avLst/>
          </a:prstGeom>
          <a:solidFill>
            <a:srgbClr val="F2C8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Rounded Rectangle 38"/>
          <p:cNvSpPr/>
          <p:nvPr/>
        </p:nvSpPr>
        <p:spPr>
          <a:xfrm>
            <a:off x="4343400" y="4206240"/>
            <a:ext cx="1691640" cy="2011680"/>
          </a:xfrm>
          <a:prstGeom prst="roundRect">
            <a:avLst>
              <a:gd name="adj" fmla="val 6000"/>
            </a:avLst>
          </a:prstGeom>
          <a:solidFill>
            <a:srgbClr val="1B1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Rectangle 39"/>
          <p:cNvSpPr/>
          <p:nvPr/>
        </p:nvSpPr>
        <p:spPr>
          <a:xfrm>
            <a:off x="4526280" y="4389120"/>
            <a:ext cx="292608" cy="45720"/>
          </a:xfrm>
          <a:prstGeom prst="rect">
            <a:avLst/>
          </a:prstGeom>
          <a:solidFill>
            <a:srgbClr val="D4AF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TextBox 40"/>
          <p:cNvSpPr txBox="1"/>
          <p:nvPr/>
        </p:nvSpPr>
        <p:spPr>
          <a:xfrm>
            <a:off x="4526280" y="4535424"/>
            <a:ext cx="132588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1" i="0" spc="150">
                <a:solidFill>
                  <a:srgbClr val="D4AF0A"/>
                </a:solidFill>
                <a:latin typeface="Segoe UI Semibold"/>
              </a:rPr>
              <a:t>09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526280" y="4773168"/>
            <a:ext cx="1325880" cy="777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200" b="1" i="0">
                <a:solidFill>
                  <a:srgbClr val="F3F2F1"/>
                </a:solidFill>
                <a:latin typeface="Segoe UI Semibold"/>
              </a:rPr>
              <a:t>DAX Sandbox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526280" y="5577840"/>
            <a:ext cx="1325880" cy="5943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i="0">
                <a:solidFill>
                  <a:srgbClr val="B3B0AD"/>
                </a:solidFill>
                <a:latin typeface="Segoe UI"/>
              </a:rPr>
              <a:t>Medida DAX calculada de verdade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6172200" y="4206240"/>
            <a:ext cx="1691640" cy="2011680"/>
          </a:xfrm>
          <a:prstGeom prst="roundRect">
            <a:avLst>
              <a:gd name="adj" fmla="val 6000"/>
            </a:avLst>
          </a:prstGeom>
          <a:solidFill>
            <a:srgbClr val="1B1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Rectangle 39"/>
          <p:cNvSpPr/>
          <p:nvPr/>
        </p:nvSpPr>
        <p:spPr>
          <a:xfrm>
            <a:off x="6355080" y="4389120"/>
            <a:ext cx="292608" cy="45720"/>
          </a:xfrm>
          <a:prstGeom prst="rect">
            <a:avLst/>
          </a:prstGeom>
          <a:solidFill>
            <a:srgbClr val="D4AF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TextBox 40"/>
          <p:cNvSpPr txBox="1"/>
          <p:nvPr/>
        </p:nvSpPr>
        <p:spPr>
          <a:xfrm>
            <a:off x="6355080" y="4535424"/>
            <a:ext cx="132588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1" i="0" spc="150">
                <a:solidFill>
                  <a:srgbClr val="D4AF0A"/>
                </a:solidFill>
                <a:latin typeface="Segoe UI Semibold"/>
              </a:rPr>
              <a:t>10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355080" y="4773168"/>
            <a:ext cx="1325880" cy="777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200" b="1" i="0">
                <a:solidFill>
                  <a:srgbClr val="F3F2F1"/>
                </a:solidFill>
                <a:latin typeface="Segoe UI Semibold"/>
              </a:rPr>
              <a:t>Pergunte aos Dados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355080" y="5577840"/>
            <a:ext cx="1325880" cy="5943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i="0">
                <a:solidFill>
                  <a:srgbClr val="B3B0AD"/>
                </a:solidFill>
                <a:latin typeface="Segoe UI"/>
              </a:rPr>
              <a:t>Pergunta em português vira medida DAX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8001000" y="4206240"/>
            <a:ext cx="1691640" cy="2011680"/>
          </a:xfrm>
          <a:prstGeom prst="roundRect">
            <a:avLst>
              <a:gd name="adj" fmla="val 6000"/>
            </a:avLst>
          </a:prstGeom>
          <a:solidFill>
            <a:srgbClr val="1B1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Rectangle 39"/>
          <p:cNvSpPr/>
          <p:nvPr/>
        </p:nvSpPr>
        <p:spPr>
          <a:xfrm>
            <a:off x="8183879" y="4389120"/>
            <a:ext cx="292608" cy="45720"/>
          </a:xfrm>
          <a:prstGeom prst="rect">
            <a:avLst/>
          </a:prstGeom>
          <a:solidFill>
            <a:srgbClr val="D4AF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TextBox 40"/>
          <p:cNvSpPr txBox="1"/>
          <p:nvPr/>
        </p:nvSpPr>
        <p:spPr>
          <a:xfrm>
            <a:off x="8183879" y="4535424"/>
            <a:ext cx="132588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1" i="0" spc="150">
                <a:solidFill>
                  <a:srgbClr val="D4AF0A"/>
                </a:solidFill>
                <a:latin typeface="Segoe UI Semibold"/>
              </a:rPr>
              <a:t>11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183879" y="4773168"/>
            <a:ext cx="1325880" cy="777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200" b="1" i="0">
                <a:solidFill>
                  <a:srgbClr val="F3F2F1"/>
                </a:solidFill>
                <a:latin typeface="Segoe UI Semibold"/>
              </a:rPr>
              <a:t>Carrossel Power BI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183879" y="5577840"/>
            <a:ext cx="1325880" cy="5943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i="0">
                <a:solidFill>
                  <a:srgbClr val="B3B0AD"/>
                </a:solidFill>
                <a:latin typeface="Segoe UI"/>
              </a:rPr>
              <a:t>HTML que roda sozinho, direto do .pbix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2121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85800" y="566928"/>
            <a:ext cx="91440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50" b="1" i="0" spc="220">
                <a:solidFill>
                  <a:srgbClr val="F2C811"/>
                </a:solidFill>
                <a:latin typeface="Segoe UI Semibold"/>
              </a:rPr>
              <a:t>01 · GERADOR DE SETORES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932688"/>
            <a:ext cx="10789920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3400" b="1" i="0">
                <a:solidFill>
                  <a:srgbClr val="F3F2F1"/>
                </a:solidFill>
                <a:latin typeface="Segoe UI Semibold"/>
              </a:rPr>
              <a:t>200 setores, modelo estrela pronto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2011680"/>
            <a:ext cx="6309360" cy="34747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20000"/>
              </a:lnSpc>
              <a:spcAft>
                <a:spcPts val="1400"/>
              </a:spcAft>
            </a:pPr>
            <a:r>
              <a:rPr sz="1550" b="1">
                <a:solidFill>
                  <a:srgbClr val="F2C811"/>
                </a:solidFill>
                <a:latin typeface="Segoe UI"/>
              </a:rPr>
              <a:t>―  </a:t>
            </a:r>
            <a:r>
              <a:rPr sz="1550">
                <a:solidFill>
                  <a:srgbClr val="B3B0AD"/>
                </a:solidFill>
                <a:latin typeface="Segoe UI"/>
              </a:rPr>
              <a:t>Busca por setor, periodo livre e volume via slider (100 a 100.000 linhas)</a:t>
            </a:r>
          </a:p>
          <a:p>
            <a:pPr>
              <a:lnSpc>
                <a:spcPct val="120000"/>
              </a:lnSpc>
              <a:spcAft>
                <a:spcPts val="1400"/>
              </a:spcAft>
            </a:pPr>
            <a:r>
              <a:rPr sz="1550" b="1">
                <a:solidFill>
                  <a:srgbClr val="F2C811"/>
                </a:solidFill>
                <a:latin typeface="Segoe UI"/>
              </a:rPr>
              <a:t>―  </a:t>
            </a:r>
            <a:r>
              <a:rPr sz="1550">
                <a:solidFill>
                  <a:srgbClr val="B3B0AD"/>
                </a:solidFill>
                <a:latin typeface="Segoe UI"/>
              </a:rPr>
              <a:t>Modo anomalias: 4 tipos de problema pra praticar analise de causa raiz</a:t>
            </a:r>
          </a:p>
          <a:p>
            <a:pPr>
              <a:lnSpc>
                <a:spcPct val="120000"/>
              </a:lnSpc>
              <a:spcAft>
                <a:spcPts val="1400"/>
              </a:spcAft>
            </a:pPr>
            <a:r>
              <a:rPr sz="1550" b="1">
                <a:solidFill>
                  <a:srgbClr val="F2C811"/>
                </a:solidFill>
                <a:latin typeface="Segoe UI"/>
              </a:rPr>
              <a:t>―  </a:t>
            </a:r>
            <a:r>
              <a:rPr sz="1550">
                <a:solidFill>
                  <a:srgbClr val="B3B0AD"/>
                </a:solidFill>
                <a:latin typeface="Segoe UI"/>
              </a:rPr>
              <a:t>Deriva temporal (concept drift): mudanca gradual, sem evento unico</a:t>
            </a:r>
          </a:p>
          <a:p>
            <a:pPr>
              <a:lnSpc>
                <a:spcPct val="120000"/>
              </a:lnSpc>
              <a:spcAft>
                <a:spcPts val="1400"/>
              </a:spcAft>
            </a:pPr>
            <a:r>
              <a:rPr sz="1550" b="1">
                <a:solidFill>
                  <a:srgbClr val="F2C811"/>
                </a:solidFill>
                <a:latin typeface="Segoe UI"/>
              </a:rPr>
              <a:t>―  </a:t>
            </a:r>
            <a:r>
              <a:rPr sz="1550">
                <a:solidFill>
                  <a:srgbClr val="B3B0AD"/>
                </a:solidFill>
                <a:latin typeface="Segoe UI"/>
              </a:rPr>
              <a:t>Gabarito documentado, util pra quem ensina conferir a analise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589520" y="2011680"/>
            <a:ext cx="3886200" cy="3474720"/>
          </a:xfrm>
          <a:prstGeom prst="roundRect">
            <a:avLst>
              <a:gd name="adj" fmla="val 5000"/>
            </a:avLst>
          </a:prstGeom>
          <a:solidFill>
            <a:srgbClr val="1B1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7818120" y="2240280"/>
            <a:ext cx="365760" cy="44450"/>
          </a:xfrm>
          <a:prstGeom prst="rect">
            <a:avLst/>
          </a:prstGeom>
          <a:solidFill>
            <a:srgbClr val="F2C8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7818120" y="2560320"/>
            <a:ext cx="34290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1" i="0" spc="150">
                <a:solidFill>
                  <a:srgbClr val="F2C811"/>
                </a:solidFill>
                <a:latin typeface="Segoe UI Semibold"/>
              </a:rPr>
              <a:t>STAR SCHEMA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818120" y="2926080"/>
            <a:ext cx="3429000" cy="23774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20000"/>
              </a:lnSpc>
              <a:spcAft>
                <a:spcPts val="1000"/>
              </a:spcAft>
            </a:pPr>
            <a:r>
              <a:rPr sz="1250" b="1">
                <a:solidFill>
                  <a:srgbClr val="F2C811"/>
                </a:solidFill>
                <a:latin typeface="Segoe UI"/>
              </a:rPr>
              <a:t>―  </a:t>
            </a:r>
            <a:r>
              <a:rPr sz="1250">
                <a:solidFill>
                  <a:srgbClr val="B3B0AD"/>
                </a:solidFill>
                <a:latin typeface="Segoe UI"/>
              </a:rPr>
              <a:t>Fato + dimensoes + dCalendario</a:t>
            </a:r>
          </a:p>
          <a:p>
            <a:pPr>
              <a:lnSpc>
                <a:spcPct val="120000"/>
              </a:lnSpc>
              <a:spcAft>
                <a:spcPts val="1000"/>
              </a:spcAft>
            </a:pPr>
            <a:r>
              <a:rPr sz="1250" b="1">
                <a:solidFill>
                  <a:srgbClr val="F2C811"/>
                </a:solidFill>
                <a:latin typeface="Segoe UI"/>
              </a:rPr>
              <a:t>―  </a:t>
            </a:r>
            <a:r>
              <a:rPr sz="1250">
                <a:solidFill>
                  <a:srgbClr val="B3B0AD"/>
                </a:solidFill>
                <a:latin typeface="Segoe UI"/>
              </a:rPr>
              <a:t>Relacionamentos integros por sk_/id_</a:t>
            </a:r>
          </a:p>
          <a:p>
            <a:pPr>
              <a:lnSpc>
                <a:spcPct val="120000"/>
              </a:lnSpc>
              <a:spcAft>
                <a:spcPts val="1000"/>
              </a:spcAft>
            </a:pPr>
            <a:r>
              <a:rPr sz="1250" b="1">
                <a:solidFill>
                  <a:srgbClr val="F2C811"/>
                </a:solidFill>
                <a:latin typeface="Segoe UI"/>
              </a:rPr>
              <a:t>―  </a:t>
            </a:r>
            <a:r>
              <a:rPr sz="1250">
                <a:solidFill>
                  <a:srgbClr val="B3B0AD"/>
                </a:solidFill>
                <a:latin typeface="Segoe UI"/>
              </a:rPr>
              <a:t>Ambiguidade fato-para-fato resolvida no TMDL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6455664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1" i="0" spc="180">
                <a:solidFill>
                  <a:srgbClr val="7A7774"/>
                </a:solidFill>
                <a:latin typeface="Segoe UI Semibold"/>
              </a:rPr>
              <a:t>BI DATA GENERATOR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0" y="6455664"/>
            <a:ext cx="5486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950" b="0" i="0">
                <a:solidFill>
                  <a:srgbClr val="7A7774"/>
                </a:solidFill>
                <a:latin typeface="Segoe UI"/>
              </a:rPr>
              <a:t>07/16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85800" y="6382512"/>
            <a:ext cx="256032" cy="27940"/>
          </a:xfrm>
          <a:prstGeom prst="rect">
            <a:avLst/>
          </a:prstGeom>
          <a:solidFill>
            <a:srgbClr val="F2C8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2121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85800" y="566928"/>
            <a:ext cx="91440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50" b="1" i="0" spc="220">
                <a:solidFill>
                  <a:srgbClr val="01B8AA"/>
                </a:solidFill>
                <a:latin typeface="Segoe UI Semibold"/>
              </a:rPr>
              <a:t>02 · AUTOMATIZAR BI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932688"/>
            <a:ext cx="10789920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3400" b="1" i="0">
                <a:solidFill>
                  <a:srgbClr val="F3F2F1"/>
                </a:solidFill>
                <a:latin typeface="Segoe UI Semibold"/>
              </a:rPr>
              <a:t>O mesmo motor, na sua planilha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2011680"/>
            <a:ext cx="6309360" cy="34747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20000"/>
              </a:lnSpc>
              <a:spcAft>
                <a:spcPts val="1400"/>
              </a:spcAft>
            </a:pPr>
            <a:r>
              <a:rPr sz="1550" b="1">
                <a:solidFill>
                  <a:srgbClr val="01B8AA"/>
                </a:solidFill>
                <a:latin typeface="Segoe UI"/>
              </a:rPr>
              <a:t>―  </a:t>
            </a:r>
            <a:r>
              <a:rPr sz="1550">
                <a:solidFill>
                  <a:srgbClr val="B3B0AD"/>
                </a:solidFill>
                <a:latin typeface="Segoe UI"/>
              </a:rPr>
              <a:t>Envie .csv/.xlsx e receba medidas DAX + modelo TMDL automaticos</a:t>
            </a:r>
          </a:p>
          <a:p>
            <a:pPr>
              <a:lnSpc>
                <a:spcPct val="120000"/>
              </a:lnSpc>
              <a:spcAft>
                <a:spcPts val="1400"/>
              </a:spcAft>
            </a:pPr>
            <a:r>
              <a:rPr sz="1550" b="1">
                <a:solidFill>
                  <a:srgbClr val="01B8AA"/>
                </a:solidFill>
                <a:latin typeface="Segoe UI"/>
              </a:rPr>
              <a:t>―  </a:t>
            </a:r>
            <a:r>
              <a:rPr sz="1550">
                <a:solidFill>
                  <a:srgbClr val="B3B0AD"/>
                </a:solidFill>
                <a:latin typeface="Segoe UI"/>
              </a:rPr>
              <a:t>Time Intelligence completo quando existe coluna de data (MoM, YoY, YTD)</a:t>
            </a:r>
          </a:p>
          <a:p>
            <a:pPr>
              <a:lnSpc>
                <a:spcPct val="120000"/>
              </a:lnSpc>
              <a:spcAft>
                <a:spcPts val="1400"/>
              </a:spcAft>
            </a:pPr>
            <a:r>
              <a:rPr sz="1550" b="1">
                <a:solidFill>
                  <a:srgbClr val="01B8AA"/>
                </a:solidFill>
                <a:latin typeface="Segoe UI"/>
              </a:rPr>
              <a:t>―  </a:t>
            </a:r>
            <a:r>
              <a:rPr sz="1550">
                <a:solidFill>
                  <a:srgbClr val="B3B0AD"/>
                </a:solidFill>
                <a:latin typeface="Segoe UI"/>
              </a:rPr>
              <a:t>Consolidacao automatica de planilhas com o mesmo conjunto de colunas</a:t>
            </a:r>
          </a:p>
          <a:p>
            <a:pPr>
              <a:lnSpc>
                <a:spcPct val="120000"/>
              </a:lnSpc>
              <a:spcAft>
                <a:spcPts val="1400"/>
              </a:spcAft>
            </a:pPr>
            <a:r>
              <a:rPr sz="1550" b="1">
                <a:solidFill>
                  <a:srgbClr val="01B8AA"/>
                </a:solidFill>
                <a:latin typeface="Segoe UI"/>
              </a:rPr>
              <a:t>―  </a:t>
            </a:r>
            <a:r>
              <a:rPr sz="1550">
                <a:solidFill>
                  <a:srgbClr val="B3B0AD"/>
                </a:solidFill>
                <a:latin typeface="Segoe UI"/>
              </a:rPr>
              <a:t>Reparo automatico de encoding quebrado e colunas mal separadas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589520" y="2011680"/>
            <a:ext cx="3886200" cy="3474720"/>
          </a:xfrm>
          <a:prstGeom prst="roundRect">
            <a:avLst>
              <a:gd name="adj" fmla="val 5000"/>
            </a:avLst>
          </a:prstGeom>
          <a:solidFill>
            <a:srgbClr val="1B1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7818120" y="2240280"/>
            <a:ext cx="365760" cy="44450"/>
          </a:xfrm>
          <a:prstGeom prst="rect">
            <a:avLst/>
          </a:prstGeom>
          <a:solidFill>
            <a:srgbClr val="01B8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7818120" y="2560320"/>
            <a:ext cx="34290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1" i="0" spc="150">
                <a:solidFill>
                  <a:srgbClr val="01B8AA"/>
                </a:solidFill>
                <a:latin typeface="Segoe UI Semibold"/>
              </a:rPr>
              <a:t>SEM PADRAO FIXO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818120" y="2926080"/>
            <a:ext cx="3429000" cy="23774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 b="0" i="0">
                <a:solidFill>
                  <a:srgbClr val="B3B0AD"/>
                </a:solidFill>
                <a:latin typeface="Segoe UI"/>
              </a:rPr>
              <a:t>Funciona em cima dos dados reais que voce enviar, sem depender do padrao Fato/Dimensao dos setores prontos.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6455664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1" i="0" spc="180">
                <a:solidFill>
                  <a:srgbClr val="7A7774"/>
                </a:solidFill>
                <a:latin typeface="Segoe UI Semibold"/>
              </a:rPr>
              <a:t>BI DATA GENERATOR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0" y="6455664"/>
            <a:ext cx="5486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950" b="0" i="0">
                <a:solidFill>
                  <a:srgbClr val="7A7774"/>
                </a:solidFill>
                <a:latin typeface="Segoe UI"/>
              </a:rPr>
              <a:t>08/16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85800" y="6382512"/>
            <a:ext cx="256032" cy="27940"/>
          </a:xfrm>
          <a:prstGeom prst="rect">
            <a:avLst/>
          </a:prstGeom>
          <a:solidFill>
            <a:srgbClr val="F2C8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2121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85800" y="566928"/>
            <a:ext cx="91440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50" b="1" i="0" spc="220">
                <a:solidFill>
                  <a:srgbClr val="FD625E"/>
                </a:solidFill>
                <a:latin typeface="Segoe UI Semibold"/>
              </a:rPr>
              <a:t>03 · DADOS CAUSAIS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932688"/>
            <a:ext cx="10789920" cy="51078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3400" b="1" i="0" dirty="0">
                <a:solidFill>
                  <a:srgbClr val="F3F2F1"/>
                </a:solidFill>
                <a:latin typeface="Segoe UI Semibold"/>
              </a:rPr>
              <a:t>Rela</a:t>
            </a:r>
            <a:r>
              <a:rPr lang="pt-BR" sz="3400" b="1" i="0" dirty="0" err="1">
                <a:solidFill>
                  <a:srgbClr val="F3F2F1"/>
                </a:solidFill>
                <a:latin typeface="Segoe UI Semibold"/>
              </a:rPr>
              <a:t>çã</a:t>
            </a:r>
            <a:r>
              <a:rPr sz="3400" b="1" i="0" dirty="0">
                <a:solidFill>
                  <a:srgbClr val="F3F2F1"/>
                </a:solidFill>
                <a:latin typeface="Segoe UI Semibold"/>
              </a:rPr>
              <a:t>o causa-</a:t>
            </a:r>
            <a:r>
              <a:rPr sz="3400" b="1" i="0" dirty="0" err="1">
                <a:solidFill>
                  <a:srgbClr val="F3F2F1"/>
                </a:solidFill>
                <a:latin typeface="Segoe UI Semibold"/>
              </a:rPr>
              <a:t>efeito</a:t>
            </a:r>
            <a:r>
              <a:rPr sz="3400" b="1" i="0" dirty="0">
                <a:solidFill>
                  <a:srgbClr val="F3F2F1"/>
                </a:solidFill>
                <a:latin typeface="Segoe UI Semibold"/>
              </a:rPr>
              <a:t> </a:t>
            </a:r>
            <a:r>
              <a:rPr sz="3400" b="1" i="0" dirty="0" err="1">
                <a:solidFill>
                  <a:srgbClr val="F3F2F1"/>
                </a:solidFill>
                <a:latin typeface="Segoe UI Semibold"/>
              </a:rPr>
              <a:t>conhecida</a:t>
            </a:r>
            <a:r>
              <a:rPr sz="3400" b="1" i="0" dirty="0">
                <a:solidFill>
                  <a:srgbClr val="F3F2F1"/>
                </a:solidFill>
                <a:latin typeface="Segoe UI Semibold"/>
              </a:rPr>
              <a:t> de </a:t>
            </a:r>
            <a:r>
              <a:rPr sz="3400" b="1" i="0" dirty="0" err="1">
                <a:solidFill>
                  <a:srgbClr val="F3F2F1"/>
                </a:solidFill>
                <a:latin typeface="Segoe UI Semibold"/>
              </a:rPr>
              <a:t>proposito</a:t>
            </a:r>
            <a:endParaRPr sz="3400" b="1" i="0" dirty="0">
              <a:solidFill>
                <a:srgbClr val="F3F2F1"/>
              </a:solidFill>
              <a:latin typeface="Segoe UI Semibold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685800" y="2011680"/>
            <a:ext cx="6309360" cy="34747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25000"/>
              </a:lnSpc>
              <a:spcAft>
                <a:spcPts val="1600"/>
              </a:spcAft>
            </a:pPr>
            <a:r>
              <a:rPr sz="1550" b="1">
                <a:solidFill>
                  <a:srgbClr val="FD625E"/>
                </a:solidFill>
                <a:latin typeface="Segoe UI"/>
              </a:rPr>
              <a:t>―  </a:t>
            </a:r>
            <a:r>
              <a:rPr sz="1550">
                <a:solidFill>
                  <a:srgbClr val="B3B0AD"/>
                </a:solidFill>
                <a:latin typeface="Segoe UI"/>
              </a:rPr>
              <a:t>Escolha causa, efeito, defasagem, confundidor e intensidade de ruido</a:t>
            </a:r>
          </a:p>
          <a:p>
            <a:pPr>
              <a:lnSpc>
                <a:spcPct val="125000"/>
              </a:lnSpc>
              <a:spcAft>
                <a:spcPts val="1600"/>
              </a:spcAft>
            </a:pPr>
            <a:r>
              <a:rPr sz="1550" b="1">
                <a:solidFill>
                  <a:srgbClr val="FD625E"/>
                </a:solidFill>
                <a:latin typeface="Segoe UI"/>
              </a:rPr>
              <a:t>―  </a:t>
            </a:r>
            <a:r>
              <a:rPr sz="1550">
                <a:solidFill>
                  <a:srgbClr val="B3B0AD"/>
                </a:solidFill>
                <a:latin typeface="Segoe UI"/>
              </a:rPr>
              <a:t>O efeito e 100% simulado pela formula causal, gabarito sempre confiavel</a:t>
            </a:r>
          </a:p>
          <a:p>
            <a:pPr>
              <a:lnSpc>
                <a:spcPct val="125000"/>
              </a:lnSpc>
              <a:spcAft>
                <a:spcPts val="1600"/>
              </a:spcAft>
            </a:pPr>
            <a:r>
              <a:rPr sz="1550" b="1">
                <a:solidFill>
                  <a:srgbClr val="FD625E"/>
                </a:solidFill>
                <a:latin typeface="Segoe UI"/>
              </a:rPr>
              <a:t>―  </a:t>
            </a:r>
            <a:r>
              <a:rPr sz="1550">
                <a:solidFill>
                  <a:srgbClr val="B3B0AD"/>
                </a:solidFill>
                <a:latin typeface="Segoe UI"/>
              </a:rPr>
              <a:t>Serve pra praticar inferencia causal, teste A/B e marketing mix modeling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589520" y="2011680"/>
            <a:ext cx="3886200" cy="3474720"/>
          </a:xfrm>
          <a:prstGeom prst="roundRect">
            <a:avLst>
              <a:gd name="adj" fmla="val 5000"/>
            </a:avLst>
          </a:prstGeom>
          <a:solidFill>
            <a:srgbClr val="1B1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7818120" y="2240280"/>
            <a:ext cx="365760" cy="44450"/>
          </a:xfrm>
          <a:prstGeom prst="rect">
            <a:avLst/>
          </a:prstGeom>
          <a:solidFill>
            <a:srgbClr val="FD62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7818120" y="2560320"/>
            <a:ext cx="34290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1" i="0" spc="150">
                <a:solidFill>
                  <a:srgbClr val="FD625E"/>
                </a:solidFill>
                <a:latin typeface="Segoe UI Semibold"/>
              </a:rPr>
              <a:t>VALIDADO EM TESTES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818120" y="3017520"/>
            <a:ext cx="342900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000" b="1" i="0">
                <a:solidFill>
                  <a:srgbClr val="F3F2F1"/>
                </a:solidFill>
                <a:latin typeface="Segoe UI Semibold"/>
              </a:rPr>
              <a:t>0,21  →  0,93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18120" y="3794760"/>
            <a:ext cx="3429000" cy="1463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 i="0">
                <a:solidFill>
                  <a:srgbClr val="B3B0AD"/>
                </a:solidFill>
                <a:latin typeface="Segoe UI"/>
              </a:rPr>
              <a:t>Correlacao medida sem e com a defasagem correta, confirmando que o mecanismo causal se manifesta nos dados.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6455664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1" i="0" spc="180">
                <a:solidFill>
                  <a:srgbClr val="7A7774"/>
                </a:solidFill>
                <a:latin typeface="Segoe UI Semibold"/>
              </a:rPr>
              <a:t>BI DATA GENERATOR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2800" y="6455664"/>
            <a:ext cx="5486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950" b="0" i="0">
                <a:solidFill>
                  <a:srgbClr val="7A7774"/>
                </a:solidFill>
                <a:latin typeface="Segoe UI"/>
              </a:rPr>
              <a:t>09/16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85800" y="6382512"/>
            <a:ext cx="256032" cy="27940"/>
          </a:xfrm>
          <a:prstGeom prst="rect">
            <a:avLst/>
          </a:prstGeom>
          <a:solidFill>
            <a:srgbClr val="F2C8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2121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85800" y="566928"/>
            <a:ext cx="91440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50" b="1" i="0" spc="220">
                <a:solidFill>
                  <a:srgbClr val="D4AF0A"/>
                </a:solidFill>
                <a:latin typeface="Segoe UI Semibold"/>
              </a:rPr>
              <a:t>04 · FERRAMENTAS DAX &amp; TMDL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932688"/>
            <a:ext cx="10789920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3400" b="1" i="0">
                <a:solidFill>
                  <a:srgbClr val="F3F2F1"/>
                </a:solidFill>
                <a:latin typeface="Segoe UI Semibold"/>
              </a:rPr>
              <a:t>Formate, audite e calcule de verdade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85800" y="2011680"/>
            <a:ext cx="5193792" cy="1600200"/>
          </a:xfrm>
          <a:prstGeom prst="roundRect">
            <a:avLst>
              <a:gd name="adj" fmla="val 6000"/>
            </a:avLst>
          </a:prstGeom>
          <a:solidFill>
            <a:srgbClr val="1B1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886968" y="2212848"/>
            <a:ext cx="310896" cy="44450"/>
          </a:xfrm>
          <a:prstGeom prst="rect">
            <a:avLst/>
          </a:prstGeom>
          <a:solidFill>
            <a:srgbClr val="F2C8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886968" y="2377440"/>
            <a:ext cx="4791456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1" i="0">
                <a:solidFill>
                  <a:srgbClr val="F3F2F1"/>
                </a:solidFill>
                <a:latin typeface="Segoe UI Semibold"/>
              </a:rPr>
              <a:t>Formatar DAX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86968" y="2761488"/>
            <a:ext cx="4791456" cy="685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 i="0">
                <a:solidFill>
                  <a:srgbClr val="B3B0AD"/>
                </a:solidFill>
                <a:latin typeface="Segoe UI"/>
              </a:rPr>
              <a:t>Expressao bagunçada vira codigo indentado e legivel, sem depender de servico externo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062472" y="2011680"/>
            <a:ext cx="5193792" cy="1600200"/>
          </a:xfrm>
          <a:prstGeom prst="roundRect">
            <a:avLst>
              <a:gd name="adj" fmla="val 6000"/>
            </a:avLst>
          </a:prstGeom>
          <a:solidFill>
            <a:srgbClr val="1B1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6263640" y="2212848"/>
            <a:ext cx="310896" cy="44450"/>
          </a:xfrm>
          <a:prstGeom prst="rect">
            <a:avLst/>
          </a:prstGeom>
          <a:solidFill>
            <a:srgbClr val="01B8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263640" y="2377440"/>
            <a:ext cx="4791456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1" i="0">
                <a:solidFill>
                  <a:srgbClr val="F3F2F1"/>
                </a:solidFill>
                <a:latin typeface="Segoe UI Semibold"/>
              </a:rPr>
              <a:t>Formatar 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63640" y="2761488"/>
            <a:ext cx="4791456" cy="685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 i="0">
                <a:solidFill>
                  <a:srgbClr val="B3B0AD"/>
                </a:solidFill>
                <a:latin typeface="Segoe UI"/>
              </a:rPr>
              <a:t>Mesmo principio do formatador de DAX, adaptado pra sintaxe do Power Query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85800" y="3794760"/>
            <a:ext cx="5193792" cy="1600200"/>
          </a:xfrm>
          <a:prstGeom prst="roundRect">
            <a:avLst>
              <a:gd name="adj" fmla="val 6000"/>
            </a:avLst>
          </a:prstGeom>
          <a:solidFill>
            <a:srgbClr val="1B1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886968" y="3995928"/>
            <a:ext cx="310896" cy="44450"/>
          </a:xfrm>
          <a:prstGeom prst="rect">
            <a:avLst/>
          </a:prstGeom>
          <a:solidFill>
            <a:srgbClr val="FD62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886968" y="4160520"/>
            <a:ext cx="4791456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1" i="0">
                <a:solidFill>
                  <a:srgbClr val="F3F2F1"/>
                </a:solidFill>
                <a:latin typeface="Segoe UI Semibold"/>
              </a:rPr>
              <a:t>Auditor de Modelo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86968" y="4544568"/>
            <a:ext cx="4791456" cy="685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 i="0">
                <a:solidFill>
                  <a:srgbClr val="B3B0AD"/>
                </a:solidFill>
                <a:latin typeface="Segoe UI"/>
              </a:rPr>
              <a:t>Cole o TMDL real do seu modelo e receba nota de 0 a 100 com achados acionaveis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062472" y="3794760"/>
            <a:ext cx="5193792" cy="1600200"/>
          </a:xfrm>
          <a:prstGeom prst="roundRect">
            <a:avLst>
              <a:gd name="adj" fmla="val 6000"/>
            </a:avLst>
          </a:prstGeom>
          <a:solidFill>
            <a:srgbClr val="1B1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6263640" y="3995928"/>
            <a:ext cx="310896" cy="44450"/>
          </a:xfrm>
          <a:prstGeom prst="rect">
            <a:avLst/>
          </a:prstGeom>
          <a:solidFill>
            <a:srgbClr val="D4AF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6263640" y="4160520"/>
            <a:ext cx="4791456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1" i="0">
                <a:solidFill>
                  <a:srgbClr val="F3F2F1"/>
                </a:solidFill>
                <a:latin typeface="Segoe UI Semibold"/>
              </a:rPr>
              <a:t>DAX Sandbox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263640" y="4544568"/>
            <a:ext cx="4791456" cy="685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 i="0">
                <a:solidFill>
                  <a:srgbClr val="B3B0AD"/>
                </a:solidFill>
                <a:latin typeface="Segoe UI"/>
              </a:rPr>
              <a:t>SUM, CALCULATE, DIVIDE e mais, calculados de verdade contra os dados gerados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85800" y="6455664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1" i="0" spc="180">
                <a:solidFill>
                  <a:srgbClr val="7A7774"/>
                </a:solidFill>
                <a:latin typeface="Segoe UI Semibold"/>
              </a:rPr>
              <a:t>BI DATA GENERATOR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972800" y="6455664"/>
            <a:ext cx="5486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950" b="0" i="0">
                <a:solidFill>
                  <a:srgbClr val="7A7774"/>
                </a:solidFill>
                <a:latin typeface="Segoe UI"/>
              </a:rPr>
              <a:t>10/16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85800" y="6382512"/>
            <a:ext cx="256032" cy="27940"/>
          </a:xfrm>
          <a:prstGeom prst="rect">
            <a:avLst/>
          </a:prstGeom>
          <a:solidFill>
            <a:srgbClr val="F2C8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2121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85800" y="566928"/>
            <a:ext cx="91440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50" b="1" i="0" spc="220">
                <a:solidFill>
                  <a:srgbClr val="01B8AA"/>
                </a:solidFill>
                <a:latin typeface="Segoe UI Semibold"/>
              </a:rPr>
              <a:t>05 · SIMULADOR PL-300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932688"/>
            <a:ext cx="10789920" cy="51078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3400" b="1" i="0" dirty="0">
                <a:solidFill>
                  <a:srgbClr val="F3F2F1"/>
                </a:solidFill>
                <a:latin typeface="Segoe UI Semibold"/>
              </a:rPr>
              <a:t>Pratique para a </a:t>
            </a:r>
            <a:r>
              <a:rPr sz="3400" b="1" i="0" dirty="0" err="1">
                <a:solidFill>
                  <a:srgbClr val="F3F2F1"/>
                </a:solidFill>
                <a:latin typeface="Segoe UI Semibold"/>
              </a:rPr>
              <a:t>certifica</a:t>
            </a:r>
            <a:r>
              <a:rPr lang="pt-BR" sz="3400" b="1" i="0" dirty="0" err="1">
                <a:solidFill>
                  <a:srgbClr val="F3F2F1"/>
                </a:solidFill>
                <a:latin typeface="Segoe UI Semibold"/>
              </a:rPr>
              <a:t>çã</a:t>
            </a:r>
            <a:r>
              <a:rPr sz="3400" b="1" i="0" dirty="0">
                <a:solidFill>
                  <a:srgbClr val="F3F2F1"/>
                </a:solidFill>
                <a:latin typeface="Segoe UI Semibold"/>
              </a:rPr>
              <a:t>o </a:t>
            </a:r>
            <a:r>
              <a:rPr sz="3400" b="1" i="0" dirty="0" err="1">
                <a:solidFill>
                  <a:srgbClr val="F3F2F1"/>
                </a:solidFill>
                <a:latin typeface="Segoe UI Semibold"/>
              </a:rPr>
              <a:t>oficial</a:t>
            </a:r>
            <a:endParaRPr sz="3400" b="1" i="0" dirty="0">
              <a:solidFill>
                <a:srgbClr val="F3F2F1"/>
              </a:solidFill>
              <a:latin typeface="Segoe UI Semibold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685800" y="2011680"/>
            <a:ext cx="6309360" cy="34747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25000"/>
              </a:lnSpc>
              <a:spcAft>
                <a:spcPts val="1600"/>
              </a:spcAft>
            </a:pPr>
            <a:r>
              <a:rPr sz="1600" b="1">
                <a:solidFill>
                  <a:srgbClr val="01B8AA"/>
                </a:solidFill>
                <a:latin typeface="Segoe UI"/>
              </a:rPr>
              <a:t>―  </a:t>
            </a:r>
            <a:r>
              <a:rPr sz="1600">
                <a:solidFill>
                  <a:srgbClr val="B3B0AD"/>
                </a:solidFill>
                <a:latin typeface="Segoe UI"/>
              </a:rPr>
              <a:t>Perguntas 100% originais, organizadas nos 4 dominios oficiais do exame</a:t>
            </a:r>
          </a:p>
          <a:p>
            <a:pPr>
              <a:lnSpc>
                <a:spcPct val="125000"/>
              </a:lnSpc>
              <a:spcAft>
                <a:spcPts val="1600"/>
              </a:spcAft>
            </a:pPr>
            <a:r>
              <a:rPr sz="1600" b="1">
                <a:solidFill>
                  <a:srgbClr val="01B8AA"/>
                </a:solidFill>
                <a:latin typeface="Segoe UI"/>
              </a:rPr>
              <a:t>―  </a:t>
            </a:r>
            <a:r>
              <a:rPr sz="1600">
                <a:solidFill>
                  <a:srgbClr val="B3B0AD"/>
                </a:solidFill>
                <a:latin typeface="Segoe UI"/>
              </a:rPr>
              <a:t>Correcao com nota geral, nota por dominio e explicacao de cada resposta</a:t>
            </a:r>
          </a:p>
          <a:p>
            <a:pPr>
              <a:lnSpc>
                <a:spcPct val="125000"/>
              </a:lnSpc>
              <a:spcAft>
                <a:spcPts val="1600"/>
              </a:spcAft>
            </a:pPr>
            <a:r>
              <a:rPr sz="1600" b="1">
                <a:solidFill>
                  <a:srgbClr val="01B8AA"/>
                </a:solidFill>
                <a:latin typeface="Segoe UI"/>
              </a:rPr>
              <a:t>―  </a:t>
            </a:r>
            <a:r>
              <a:rPr sz="1600">
                <a:solidFill>
                  <a:srgbClr val="B3B0AD"/>
                </a:solidFill>
                <a:latin typeface="Segoe UI"/>
              </a:rPr>
              <a:t>Progresso pessoal ao longo do tempo, sem login e sem ranking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589520" y="2011680"/>
            <a:ext cx="3886200" cy="3474720"/>
          </a:xfrm>
          <a:prstGeom prst="roundRect">
            <a:avLst>
              <a:gd name="adj" fmla="val 5000"/>
            </a:avLst>
          </a:prstGeom>
          <a:solidFill>
            <a:srgbClr val="1B1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7818120" y="2240280"/>
            <a:ext cx="365760" cy="44450"/>
          </a:xfrm>
          <a:prstGeom prst="rect">
            <a:avLst/>
          </a:prstGeom>
          <a:solidFill>
            <a:srgbClr val="01B8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7818120" y="2560320"/>
            <a:ext cx="34290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1" i="0" spc="150">
                <a:solidFill>
                  <a:srgbClr val="01B8AA"/>
                </a:solidFill>
                <a:latin typeface="Segoe UI Semibold"/>
              </a:rPr>
              <a:t>4 DOMINIOS OFICIAIS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818120" y="2926080"/>
            <a:ext cx="3429000" cy="23774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15000"/>
              </a:lnSpc>
              <a:spcAft>
                <a:spcPts val="800"/>
              </a:spcAft>
            </a:pPr>
            <a:r>
              <a:rPr sz="1200" b="1">
                <a:solidFill>
                  <a:srgbClr val="01B8AA"/>
                </a:solidFill>
                <a:latin typeface="Segoe UI"/>
              </a:rPr>
              <a:t>―  </a:t>
            </a:r>
            <a:r>
              <a:rPr sz="1200">
                <a:solidFill>
                  <a:srgbClr val="B3B0AD"/>
                </a:solidFill>
                <a:latin typeface="Segoe UI"/>
              </a:rPr>
              <a:t>Preparar os dados</a:t>
            </a:r>
          </a:p>
          <a:p>
            <a:pPr>
              <a:lnSpc>
                <a:spcPct val="115000"/>
              </a:lnSpc>
              <a:spcAft>
                <a:spcPts val="800"/>
              </a:spcAft>
            </a:pPr>
            <a:r>
              <a:rPr sz="1200" b="1">
                <a:solidFill>
                  <a:srgbClr val="01B8AA"/>
                </a:solidFill>
                <a:latin typeface="Segoe UI"/>
              </a:rPr>
              <a:t>―  </a:t>
            </a:r>
            <a:r>
              <a:rPr sz="1200">
                <a:solidFill>
                  <a:srgbClr val="B3B0AD"/>
                </a:solidFill>
                <a:latin typeface="Segoe UI"/>
              </a:rPr>
              <a:t>Modelar os dados</a:t>
            </a:r>
          </a:p>
          <a:p>
            <a:pPr>
              <a:lnSpc>
                <a:spcPct val="115000"/>
              </a:lnSpc>
              <a:spcAft>
                <a:spcPts val="800"/>
              </a:spcAft>
            </a:pPr>
            <a:r>
              <a:rPr sz="1200" b="1">
                <a:solidFill>
                  <a:srgbClr val="01B8AA"/>
                </a:solidFill>
                <a:latin typeface="Segoe UI"/>
              </a:rPr>
              <a:t>―  </a:t>
            </a:r>
            <a:r>
              <a:rPr sz="1200">
                <a:solidFill>
                  <a:srgbClr val="B3B0AD"/>
                </a:solidFill>
                <a:latin typeface="Segoe UI"/>
              </a:rPr>
              <a:t>Visualizar e analisar os dados</a:t>
            </a:r>
          </a:p>
          <a:p>
            <a:pPr>
              <a:lnSpc>
                <a:spcPct val="115000"/>
              </a:lnSpc>
              <a:spcAft>
                <a:spcPts val="800"/>
              </a:spcAft>
            </a:pPr>
            <a:r>
              <a:rPr sz="1200" b="1">
                <a:solidFill>
                  <a:srgbClr val="01B8AA"/>
                </a:solidFill>
                <a:latin typeface="Segoe UI"/>
              </a:rPr>
              <a:t>―  </a:t>
            </a:r>
            <a:r>
              <a:rPr sz="1200">
                <a:solidFill>
                  <a:srgbClr val="B3B0AD"/>
                </a:solidFill>
                <a:latin typeface="Segoe UI"/>
              </a:rPr>
              <a:t>Gerenciar e proteger o Power BI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6455664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1" i="0" spc="180">
                <a:solidFill>
                  <a:srgbClr val="7A7774"/>
                </a:solidFill>
                <a:latin typeface="Segoe UI Semibold"/>
              </a:rPr>
              <a:t>BI DATA GENERATOR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0" y="6455664"/>
            <a:ext cx="5486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950" b="0" i="0">
                <a:solidFill>
                  <a:srgbClr val="7A7774"/>
                </a:solidFill>
                <a:latin typeface="Segoe UI"/>
              </a:rPr>
              <a:t>11/16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85800" y="6382512"/>
            <a:ext cx="256032" cy="27940"/>
          </a:xfrm>
          <a:prstGeom prst="rect">
            <a:avLst/>
          </a:prstGeom>
          <a:solidFill>
            <a:srgbClr val="F2C8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2121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85800" y="566928"/>
            <a:ext cx="91440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50" b="1" i="0" spc="220">
                <a:solidFill>
                  <a:srgbClr val="FD625E"/>
                </a:solidFill>
                <a:latin typeface="Segoe UI Semibold"/>
              </a:rPr>
              <a:t>06 · PERGUNTE AOS DADOS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932688"/>
            <a:ext cx="10789920" cy="51078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3400" b="1" i="0" dirty="0">
                <a:solidFill>
                  <a:srgbClr val="F3F2F1"/>
                </a:solidFill>
                <a:latin typeface="Segoe UI Semibold"/>
              </a:rPr>
              <a:t>Pergunte em português, receba o DAX</a:t>
            </a:r>
            <a:r>
              <a:rPr lang="pt-BR" sz="3400" b="1" i="0" dirty="0" err="1">
                <a:solidFill>
                  <a:srgbClr val="F3F2F1"/>
                </a:solidFill>
                <a:latin typeface="Segoe UI Semibold"/>
              </a:rPr>
              <a:t/>
            </a:r>
            <a:r>
              <a:rPr sz="3400" b="1" i="0" dirty="0">
                <a:solidFill>
                  <a:srgbClr val="F3F2F1"/>
                </a:solidFill>
                <a:latin typeface="Segoe UI Semibold"/>
              </a:rPr>
              <a:t/>
            </a:r>
            <a:r>
              <a:rPr sz="3400" b="1" i="0" dirty="0" err="1">
                <a:solidFill>
                  <a:srgbClr val="F3F2F1"/>
                </a:solidFill>
                <a:latin typeface="Segoe UI Semibold"/>
              </a:rPr>
              <a:t/>
            </a:r>
            <a:r>
              <a:rPr sz="3400" b="1" i="0" dirty="0">
                <a:solidFill>
                  <a:srgbClr val="F3F2F1"/>
                </a:solidFill>
                <a:latin typeface="Segoe UI Semibold"/>
              </a:rPr>
              <a:t/>
            </a:r>
            <a:r>
              <a:rPr sz="3400" b="1" i="0" dirty="0" err="1">
                <a:solidFill>
                  <a:srgbClr val="F3F2F1"/>
                </a:solidFill>
                <a:latin typeface="Segoe UI Semibold"/>
              </a:rPr>
              <a:t/>
            </a:r>
            <a:r>
              <a:rPr sz="3400" b="1" i="0" dirty="0">
                <a:solidFill>
                  <a:srgbClr val="F3F2F1"/>
                </a:solidFill>
                <a:latin typeface="Segoe UI Semibold"/>
              </a:rPr>
              <a:t/>
            </a:r>
            <a:r>
              <a:rPr sz="3400" b="1" i="0" dirty="0" err="1">
                <a:solidFill>
                  <a:srgbClr val="F3F2F1"/>
                </a:solidFill>
                <a:latin typeface="Segoe UI Semibold"/>
              </a:rPr>
              <a:t/>
            </a:r>
            <a:endParaRPr sz="3400" b="1" i="0" dirty="0">
              <a:solidFill>
                <a:srgbClr val="F3F2F1"/>
              </a:solidFill>
              <a:latin typeface="Segoe UI Semibold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685800" y="2011680"/>
            <a:ext cx="6309360" cy="34747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25000"/>
              </a:lnSpc>
              <a:spcAft>
                <a:spcPts val="1600"/>
              </a:spcAft>
            </a:pPr>
            <a:r>
              <a:rPr sz="1550" b="1">
                <a:solidFill>
                  <a:srgbClr val="FD625E"/>
                </a:solidFill>
                <a:latin typeface="Segoe UI"/>
              </a:rPr>
              <a:t>―  </a:t>
            </a:r>
            <a:r>
              <a:rPr sz="1550">
                <a:solidFill>
                  <a:srgbClr val="B3B0AD"/>
                </a:solidFill>
                <a:latin typeface="Segoe UI"/>
              </a:rPr>
              <a:t>Escreva uma pergunta de negocio e veja a resposta calculada de verdade, com a medida DAX equivalente</a:t>
            </a:r>
          </a:p>
          <a:p>
            <a:pPr>
              <a:lnSpc>
                <a:spcPct val="125000"/>
              </a:lnSpc>
              <a:spcAft>
                <a:spcPts val="1600"/>
              </a:spcAft>
            </a:pPr>
            <a:r>
              <a:rPr sz="1550" b="1">
                <a:solidFill>
                  <a:srgbClr val="FD625E"/>
                </a:solidFill>
                <a:latin typeface="Segoe UI"/>
              </a:rPr>
              <a:t>―  </a:t>
            </a:r>
            <a:r>
              <a:rPr sz="1550">
                <a:solidFill>
                  <a:srgbClr val="B3B0AD"/>
                </a:solidFill>
                <a:latin typeface="Segoe UI"/>
              </a:rPr>
              <a:t>Suporta agregacao, ranking, filtro por periodo e comparacao entre dois periodos (ex.: Jan/22 vs Jan/23)</a:t>
            </a:r>
          </a:p>
          <a:p>
            <a:pPr>
              <a:lnSpc>
                <a:spcPct val="125000"/>
              </a:lnSpc>
              <a:spcAft>
                <a:spcPts val="1600"/>
              </a:spcAft>
            </a:pPr>
            <a:r>
              <a:rPr sz="1550" b="1">
                <a:solidFill>
                  <a:srgbClr val="FD625E"/>
                </a:solidFill>
                <a:latin typeface="Segoe UI"/>
              </a:rPr>
              <a:t>―  </a:t>
            </a:r>
            <a:r>
              <a:rPr sz="1550">
                <a:solidFill>
                  <a:srgbClr val="B3B0AD"/>
                </a:solidFill>
                <a:latin typeface="Segoe UI"/>
              </a:rPr>
              <a:t>Sem LLM: motor de reconhecimento de padroes que recusa pergunta fora do escopo em vez de arriscar resposta errada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589520" y="2011680"/>
            <a:ext cx="3886200" cy="3474720"/>
          </a:xfrm>
          <a:prstGeom prst="roundRect">
            <a:avLst>
              <a:gd name="adj" fmla="val 5000"/>
            </a:avLst>
          </a:prstGeom>
          <a:solidFill>
            <a:srgbClr val="1B1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7818120" y="2240280"/>
            <a:ext cx="365760" cy="44450"/>
          </a:xfrm>
          <a:prstGeom prst="rect">
            <a:avLst/>
          </a:prstGeom>
          <a:solidFill>
            <a:srgbClr val="FD62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7818120" y="2560320"/>
            <a:ext cx="34290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1" i="0" spc="150">
                <a:solidFill>
                  <a:srgbClr val="FD625E"/>
                </a:solidFill>
                <a:latin typeface="Segoe UI Semibold"/>
              </a:rPr>
              <a:t>TRADUÇÃO EM TEMPO REAL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818120" y="3017520"/>
            <a:ext cx="342900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200" b="1" i="0">
                <a:solidFill>
                  <a:srgbClr val="F3F2F1"/>
                </a:solidFill>
                <a:latin typeface="Segoe UI Semibold"/>
              </a:rPr>
              <a:t>Pergunta  →  DAX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18120" y="3886200"/>
            <a:ext cx="3429000" cy="1463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 i="0">
                <a:solidFill>
                  <a:srgbClr val="B3B0AD"/>
                </a:solidFill>
                <a:latin typeface="Segoe UI"/>
              </a:rPr>
              <a:t>Voce escreve a pergunta; a ferramenta devolve a medida DAX equivalente e o valor ja calculado contra os dados de verdade.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6455664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1" i="0" spc="180">
                <a:solidFill>
                  <a:srgbClr val="7A7774"/>
                </a:solidFill>
                <a:latin typeface="Segoe UI Semibold"/>
              </a:rPr>
              <a:t>BI DATA GENERATOR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2800" y="6455664"/>
            <a:ext cx="5486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950" b="0" i="0">
                <a:solidFill>
                  <a:srgbClr val="7A7774"/>
                </a:solidFill>
                <a:latin typeface="Segoe UI"/>
              </a:rPr>
              <a:t>12/16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85800" y="6382512"/>
            <a:ext cx="256032" cy="27940"/>
          </a:xfrm>
          <a:prstGeom prst="rect">
            <a:avLst/>
          </a:prstGeom>
          <a:solidFill>
            <a:srgbClr val="F2C8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2121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85800" y="566928"/>
            <a:ext cx="91440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50" b="1" i="0" spc="220">
                <a:solidFill>
                  <a:srgbClr val="FD625E"/>
                </a:solidFill>
                <a:latin typeface="Segoe UI Semibold"/>
              </a:rPr>
              <a:t>07 · CARROSSEL POWER BI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932688"/>
            <a:ext cx="10789920" cy="51078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3400" b="1" i="0" dirty="0">
                <a:solidFill>
                  <a:srgbClr val="F3F2F1"/>
                </a:solidFill>
                <a:latin typeface="Segoe UI Semibold"/>
              </a:rPr>
              <a:t>Da TV parada ao painel girando sozinho</a:t>
            </a:r>
            <a:r>
              <a:rPr lang="pt-BR" sz="3400" b="1" i="0" dirty="0" err="1">
                <a:solidFill>
                  <a:srgbClr val="F3F2F1"/>
                </a:solidFill>
                <a:latin typeface="Segoe UI Semibold"/>
              </a:rPr>
              <a:t/>
            </a:r>
            <a:r>
              <a:rPr sz="3400" b="1" i="0" dirty="0">
                <a:solidFill>
                  <a:srgbClr val="F3F2F1"/>
                </a:solidFill>
                <a:latin typeface="Segoe UI Semibold"/>
              </a:rPr>
              <a:t/>
            </a:r>
            <a:r>
              <a:rPr sz="3400" b="1" i="0" dirty="0" err="1">
                <a:solidFill>
                  <a:srgbClr val="F3F2F1"/>
                </a:solidFill>
                <a:latin typeface="Segoe UI Semibold"/>
              </a:rPr>
              <a:t/>
            </a:r>
            <a:r>
              <a:rPr sz="3400" b="1" i="0" dirty="0">
                <a:solidFill>
                  <a:srgbClr val="F3F2F1"/>
                </a:solidFill>
                <a:latin typeface="Segoe UI Semibold"/>
              </a:rPr>
              <a:t/>
            </a:r>
            <a:r>
              <a:rPr sz="3400" b="1" i="0" dirty="0" err="1">
                <a:solidFill>
                  <a:srgbClr val="F3F2F1"/>
                </a:solidFill>
                <a:latin typeface="Segoe UI Semibold"/>
              </a:rPr>
              <a:t/>
            </a:r>
            <a:r>
              <a:rPr sz="3400" b="1" i="0" dirty="0">
                <a:solidFill>
                  <a:srgbClr val="F3F2F1"/>
                </a:solidFill>
                <a:latin typeface="Segoe UI Semibold"/>
              </a:rPr>
              <a:t/>
            </a:r>
            <a:r>
              <a:rPr sz="3400" b="1" i="0" dirty="0" err="1">
                <a:solidFill>
                  <a:srgbClr val="F3F2F1"/>
                </a:solidFill>
                <a:latin typeface="Segoe UI Semibold"/>
              </a:rPr>
              <a:t/>
            </a:r>
            <a:endParaRPr sz="3400" b="1" i="0" dirty="0">
              <a:solidFill>
                <a:srgbClr val="F3F2F1"/>
              </a:solidFill>
              <a:latin typeface="Segoe UI Semibold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685800" y="2011680"/>
            <a:ext cx="6309360" cy="34747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25000"/>
              </a:lnSpc>
              <a:spcAft>
                <a:spcPts val="1600"/>
              </a:spcAft>
            </a:pPr>
            <a:r>
              <a:rPr sz="1550" b="1">
                <a:solidFill>
                  <a:srgbClr val="FD625E"/>
                </a:solidFill>
                <a:latin typeface="Segoe UI"/>
              </a:rPr>
              <a:t>―  </a:t>
            </a:r>
            <a:r>
              <a:rPr sz="1550">
                <a:solidFill>
                  <a:srgbClr val="B3B0AD"/>
                </a:solidFill>
                <a:latin typeface="Segoe UI"/>
              </a:rPr>
              <a:t>Envie o .pbix do relatorio publicado e marque quais paginas quer exibir</a:t>
            </a:r>
          </a:p>
          <a:p>
            <a:pPr>
              <a:lnSpc>
                <a:spcPct val="125000"/>
              </a:lnSpc>
              <a:spcAft>
                <a:spcPts val="1600"/>
              </a:spcAft>
            </a:pPr>
            <a:r>
              <a:rPr sz="1550" b="1">
                <a:solidFill>
                  <a:srgbClr val="FD625E"/>
                </a:solidFill>
                <a:latin typeface="Segoe UI"/>
              </a:rPr>
              <a:t>―  </a:t>
            </a:r>
            <a:r>
              <a:rPr sz="1550">
                <a:solidFill>
                  <a:srgbClr val="B3B0AD"/>
                </a:solidFill>
                <a:latin typeface="Segoe UI"/>
              </a:rPr>
              <a:t>Cole o link do Power BI Service - a ferramenta identifica sozinha o reportId e o ctid</a:t>
            </a:r>
          </a:p>
          <a:p>
            <a:pPr>
              <a:lnSpc>
                <a:spcPct val="125000"/>
              </a:lnSpc>
              <a:spcAft>
                <a:spcPts val="1600"/>
              </a:spcAft>
            </a:pPr>
            <a:r>
              <a:rPr sz="1550" b="1">
                <a:solidFill>
                  <a:srgbClr val="FD625E"/>
                </a:solidFill>
                <a:latin typeface="Segoe UI"/>
              </a:rPr>
              <a:t>―  </a:t>
            </a:r>
            <a:r>
              <a:rPr sz="1550">
                <a:solidFill>
                  <a:srgbClr val="B3B0AD"/>
                </a:solidFill>
                <a:latin typeface="Segoe UI"/>
              </a:rPr>
              <a:t>Baixe um HTML autonomo com barra de progresso, pronto pra rodar em loop numa TV ou monitor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589520" y="2011680"/>
            <a:ext cx="3886200" cy="3474720"/>
          </a:xfrm>
          <a:prstGeom prst="roundRect">
            <a:avLst>
              <a:gd name="adj" fmla="val 5000"/>
            </a:avLst>
          </a:prstGeom>
          <a:solidFill>
            <a:srgbClr val="1B1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7818120" y="2240280"/>
            <a:ext cx="365760" cy="44450"/>
          </a:xfrm>
          <a:prstGeom prst="rect">
            <a:avLst/>
          </a:prstGeom>
          <a:solidFill>
            <a:srgbClr val="FD62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7818120" y="2560320"/>
            <a:ext cx="34290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1" i="0" spc="150">
                <a:solidFill>
                  <a:srgbClr val="FD625E"/>
                </a:solidFill>
                <a:latin typeface="Segoe UI Semibold"/>
              </a:rPr>
              <a:t>PRONTO EM MINUTOS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818120" y="3017520"/>
            <a:ext cx="342900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000" b="1" i="0">
                <a:solidFill>
                  <a:srgbClr val="F3F2F1"/>
                </a:solidFill>
                <a:latin typeface="Segoe UI Semibold"/>
              </a:rPr>
              <a:t>.pbix  →  .html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18120" y="3794760"/>
            <a:ext cx="3429000" cy="1463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 i="0">
                <a:solidFill>
                  <a:srgbClr val="B3B0AD"/>
                </a:solidFill>
                <a:latin typeface="Segoe UI"/>
              </a:rPr>
              <a:t>Sem mensalidade nem conta em servico de terceiro - so o link do relatorio que voce ja publicou.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6455664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1" i="0" spc="180">
                <a:solidFill>
                  <a:srgbClr val="7A7774"/>
                </a:solidFill>
                <a:latin typeface="Segoe UI Semibold"/>
              </a:rPr>
              <a:t>BI DATA GENERATOR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2800" y="6455664"/>
            <a:ext cx="5486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950" b="0" i="0">
                <a:solidFill>
                  <a:srgbClr val="7A7774"/>
                </a:solidFill>
                <a:latin typeface="Segoe UI"/>
              </a:rPr>
              <a:t>13/16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85800" y="6382512"/>
            <a:ext cx="256032" cy="27940"/>
          </a:xfrm>
          <a:prstGeom prst="rect">
            <a:avLst/>
          </a:prstGeom>
          <a:solidFill>
            <a:srgbClr val="F2C8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2121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85800" y="566928"/>
            <a:ext cx="91440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50" b="1" i="0" spc="220">
                <a:solidFill>
                  <a:srgbClr val="FD625E"/>
                </a:solidFill>
                <a:latin typeface="Segoe UI Semibold"/>
              </a:rPr>
              <a:t>EXPORTACAO SQL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932688"/>
            <a:ext cx="10789920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3400" b="1" i="0">
                <a:solidFill>
                  <a:srgbClr val="F3F2F1"/>
                </a:solidFill>
                <a:latin typeface="Segoe UI Semibold"/>
              </a:rPr>
              <a:t>Do CSV ao banco relacional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2011680"/>
            <a:ext cx="6309360" cy="34747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25000"/>
              </a:lnSpc>
              <a:spcAft>
                <a:spcPts val="1600"/>
              </a:spcAft>
            </a:pPr>
            <a:r>
              <a:rPr sz="1600" b="1">
                <a:solidFill>
                  <a:srgbClr val="FD625E"/>
                </a:solidFill>
                <a:latin typeface="Segoe UI"/>
              </a:rPr>
              <a:t>―  </a:t>
            </a:r>
            <a:r>
              <a:rPr sz="1600">
                <a:solidFill>
                  <a:srgbClr val="B3B0AD"/>
                </a:solidFill>
                <a:latin typeface="Segoe UI"/>
              </a:rPr>
              <a:t>SQL Server, PostgreSQL e MySQL, com tipos mapeados automaticamente</a:t>
            </a:r>
          </a:p>
          <a:p>
            <a:pPr>
              <a:lnSpc>
                <a:spcPct val="125000"/>
              </a:lnSpc>
              <a:spcAft>
                <a:spcPts val="1600"/>
              </a:spcAft>
            </a:pPr>
            <a:r>
              <a:rPr sz="1600" b="1">
                <a:solidFill>
                  <a:srgbClr val="FD625E"/>
                </a:solidFill>
                <a:latin typeface="Segoe UI"/>
              </a:rPr>
              <a:t>―  </a:t>
            </a:r>
            <a:r>
              <a:rPr sz="1600">
                <a:solidFill>
                  <a:srgbClr val="B3B0AD"/>
                </a:solidFill>
                <a:latin typeface="Segoe UI"/>
              </a:rPr>
              <a:t>DDL, INSERT ou script completo, prontos pra colar no SSMS/DBeaver/psql</a:t>
            </a:r>
          </a:p>
          <a:p>
            <a:pPr>
              <a:lnSpc>
                <a:spcPct val="125000"/>
              </a:lnSpc>
              <a:spcAft>
                <a:spcPts val="1600"/>
              </a:spcAft>
            </a:pPr>
            <a:r>
              <a:rPr sz="1600" b="1">
                <a:solidFill>
                  <a:srgbClr val="FD625E"/>
                </a:solidFill>
                <a:latin typeface="Segoe UI"/>
              </a:rPr>
              <a:t>―  </a:t>
            </a:r>
            <a:r>
              <a:rPr sz="1600">
                <a:solidFill>
                  <a:srgbClr val="B3B0AD"/>
                </a:solidFill>
                <a:latin typeface="Segoe UI"/>
              </a:rPr>
              <a:t>Views de Relatorios Gerenciais deduzidas automaticamente pra qualquer setor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589520" y="2011680"/>
            <a:ext cx="3886200" cy="3474720"/>
          </a:xfrm>
          <a:prstGeom prst="roundRect">
            <a:avLst>
              <a:gd name="adj" fmla="val 5000"/>
            </a:avLst>
          </a:prstGeom>
          <a:solidFill>
            <a:srgbClr val="1B1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7818120" y="2240280"/>
            <a:ext cx="365760" cy="44450"/>
          </a:xfrm>
          <a:prstGeom prst="rect">
            <a:avLst/>
          </a:prstGeom>
          <a:solidFill>
            <a:srgbClr val="FD62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7818120" y="2560320"/>
            <a:ext cx="34290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1" i="0" spc="150">
                <a:solidFill>
                  <a:srgbClr val="FD625E"/>
                </a:solidFill>
                <a:latin typeface="Segoe UI Semibold"/>
              </a:rPr>
              <a:t>VIEWS AUTOMATICAS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818120" y="2926080"/>
            <a:ext cx="3429000" cy="23774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15000"/>
              </a:lnSpc>
              <a:spcAft>
                <a:spcPts val="800"/>
              </a:spcAft>
            </a:pPr>
            <a:r>
              <a:rPr sz="1200" b="1">
                <a:solidFill>
                  <a:srgbClr val="FD625E"/>
                </a:solidFill>
                <a:latin typeface="Segoe UI"/>
              </a:rPr>
              <a:t>―  </a:t>
            </a:r>
            <a:r>
              <a:rPr sz="1200">
                <a:solidFill>
                  <a:srgbClr val="B3B0AD"/>
                </a:solidFill>
                <a:latin typeface="Segoe UI"/>
              </a:rPr>
              <a:t>KPIs executivos</a:t>
            </a:r>
          </a:p>
          <a:p>
            <a:pPr>
              <a:lnSpc>
                <a:spcPct val="115000"/>
              </a:lnSpc>
              <a:spcAft>
                <a:spcPts val="800"/>
              </a:spcAft>
            </a:pPr>
            <a:r>
              <a:rPr sz="1200" b="1">
                <a:solidFill>
                  <a:srgbClr val="FD625E"/>
                </a:solidFill>
                <a:latin typeface="Segoe UI"/>
              </a:rPr>
              <a:t>―  </a:t>
            </a:r>
            <a:r>
              <a:rPr sz="1200">
                <a:solidFill>
                  <a:srgbClr val="B3B0AD"/>
                </a:solidFill>
                <a:latin typeface="Segoe UI"/>
              </a:rPr>
              <a:t>Evolucao mensal e anual</a:t>
            </a:r>
          </a:p>
          <a:p>
            <a:pPr>
              <a:lnSpc>
                <a:spcPct val="115000"/>
              </a:lnSpc>
              <a:spcAft>
                <a:spcPts val="800"/>
              </a:spcAft>
            </a:pPr>
            <a:r>
              <a:rPr sz="1200" b="1">
                <a:solidFill>
                  <a:srgbClr val="FD625E"/>
                </a:solidFill>
                <a:latin typeface="Segoe UI"/>
              </a:rPr>
              <a:t>―  </a:t>
            </a:r>
            <a:r>
              <a:rPr sz="1200">
                <a:solidFill>
                  <a:srgbClr val="B3B0AD"/>
                </a:solidFill>
                <a:latin typeface="Segoe UI"/>
              </a:rPr>
              <a:t>Variacao %MoM / %YoY</a:t>
            </a:r>
          </a:p>
          <a:p>
            <a:pPr>
              <a:lnSpc>
                <a:spcPct val="115000"/>
              </a:lnSpc>
              <a:spcAft>
                <a:spcPts val="800"/>
              </a:spcAft>
            </a:pPr>
            <a:r>
              <a:rPr sz="1200" b="1">
                <a:solidFill>
                  <a:srgbClr val="FD625E"/>
                </a:solidFill>
                <a:latin typeface="Segoe UI"/>
              </a:rPr>
              <a:t>―  </a:t>
            </a:r>
            <a:r>
              <a:rPr sz="1200">
                <a:solidFill>
                  <a:srgbClr val="B3B0AD"/>
                </a:solidFill>
                <a:latin typeface="Segoe UI"/>
              </a:rPr>
              <a:t>Ranking top 20 por dimensao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6455664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1" i="0" spc="180">
                <a:solidFill>
                  <a:srgbClr val="7A7774"/>
                </a:solidFill>
                <a:latin typeface="Segoe UI Semibold"/>
              </a:rPr>
              <a:t>BI DATA GENERATOR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0" y="6455664"/>
            <a:ext cx="5486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950" b="0" i="0">
                <a:solidFill>
                  <a:srgbClr val="7A7774"/>
                </a:solidFill>
                <a:latin typeface="Segoe UI"/>
              </a:rPr>
              <a:t>14/16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85800" y="6382512"/>
            <a:ext cx="256032" cy="27940"/>
          </a:xfrm>
          <a:prstGeom prst="rect">
            <a:avLst/>
          </a:prstGeom>
          <a:solidFill>
            <a:srgbClr val="F2C8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2121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85800" y="566928"/>
            <a:ext cx="91440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50" b="1" i="0" spc="220">
                <a:solidFill>
                  <a:srgbClr val="01B8AA"/>
                </a:solidFill>
                <a:latin typeface="Segoe UI Semibold"/>
              </a:rPr>
              <a:t>POR BAIXO DO CAPO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932688"/>
            <a:ext cx="10789920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3400" b="1" i="0">
                <a:solidFill>
                  <a:srgbClr val="F3F2F1"/>
                </a:solidFill>
                <a:latin typeface="Segoe UI Semibold"/>
              </a:rPr>
              <a:t>Stack simples, sem depender de IA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85800" y="2011680"/>
            <a:ext cx="5193792" cy="3474720"/>
          </a:xfrm>
          <a:prstGeom prst="roundRect">
            <a:avLst>
              <a:gd name="adj" fmla="val 5000"/>
            </a:avLst>
          </a:prstGeom>
          <a:solidFill>
            <a:srgbClr val="1B1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914400" y="2240280"/>
            <a:ext cx="365760" cy="44450"/>
          </a:xfrm>
          <a:prstGeom prst="rect">
            <a:avLst/>
          </a:prstGeom>
          <a:solidFill>
            <a:srgbClr val="F2C8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914400" y="2560320"/>
            <a:ext cx="475488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1" i="0" spc="150">
                <a:solidFill>
                  <a:srgbClr val="F2C811"/>
                </a:solidFill>
                <a:latin typeface="Segoe UI Semibold"/>
              </a:rPr>
              <a:t>TECNOLOGIA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2926080"/>
            <a:ext cx="4754880" cy="132273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20000"/>
              </a:lnSpc>
              <a:spcAft>
                <a:spcPts val="1000"/>
              </a:spcAft>
            </a:pPr>
            <a:r>
              <a:rPr sz="1300" b="1" dirty="0">
                <a:solidFill>
                  <a:srgbClr val="F2C811"/>
                </a:solidFill>
                <a:latin typeface="Segoe UI"/>
              </a:rPr>
              <a:t>―  </a:t>
            </a:r>
            <a:r>
              <a:rPr sz="1300" dirty="0" err="1">
                <a:solidFill>
                  <a:srgbClr val="B3B0AD"/>
                </a:solidFill>
                <a:latin typeface="Segoe UI"/>
              </a:rPr>
              <a:t>Streamlit</a:t>
            </a:r>
            <a:r>
              <a:rPr sz="1300" dirty="0">
                <a:solidFill>
                  <a:srgbClr val="B3B0AD"/>
                </a:solidFill>
                <a:latin typeface="Segoe UI"/>
              </a:rPr>
              <a:t> + Python 3.10+</a:t>
            </a:r>
          </a:p>
          <a:p>
            <a:pPr>
              <a:lnSpc>
                <a:spcPct val="120000"/>
              </a:lnSpc>
              <a:spcAft>
                <a:spcPts val="1000"/>
              </a:spcAft>
            </a:pPr>
            <a:r>
              <a:rPr sz="1300" b="1" dirty="0">
                <a:solidFill>
                  <a:srgbClr val="F2C811"/>
                </a:solidFill>
                <a:latin typeface="Segoe UI"/>
              </a:rPr>
              <a:t>―  </a:t>
            </a:r>
            <a:r>
              <a:rPr sz="1300" b="0" dirty="0">
                <a:solidFill>
                  <a:srgbClr val="B3B0AD"/>
                </a:solidFill>
                <a:latin typeface="Segoe UI"/>
              </a:rPr>
              <a:t>pandas e numpy para geracao de dados</a:t>
            </a:r>
            <a:r>
              <a:rPr lang="pt-BR" sz="1300" dirty="0" err="1">
                <a:solidFill>
                  <a:srgbClr val="B3B0AD"/>
                </a:solidFill>
                <a:latin typeface="Segoe UI"/>
              </a:rPr>
              <a:t/>
            </a:r>
            <a:r>
              <a:rPr sz="1300" dirty="0">
                <a:solidFill>
                  <a:srgbClr val="B3B0AD"/>
                </a:solidFill>
                <a:latin typeface="Segoe UI"/>
              </a:rPr>
              <a:t/>
            </a:r>
            <a:r>
              <a:rPr sz="1300" dirty="0" err="1">
                <a:solidFill>
                  <a:srgbClr val="B3B0AD"/>
                </a:solidFill>
                <a:latin typeface="Segoe UI"/>
              </a:rPr>
              <a:t/>
            </a:r>
            <a:r>
              <a:rPr sz="1300" dirty="0">
                <a:solidFill>
                  <a:srgbClr val="B3B0AD"/>
                </a:solidFill>
                <a:latin typeface="Segoe UI"/>
              </a:rPr>
              <a:t/>
            </a:r>
            <a:r>
              <a:rPr sz="1300" dirty="0" err="1">
                <a:solidFill>
                  <a:srgbClr val="B3B0AD"/>
                </a:solidFill>
                <a:latin typeface="Segoe UI"/>
              </a:rPr>
              <a:t/>
            </a:r>
            <a:r>
              <a:rPr sz="1300" dirty="0">
                <a:solidFill>
                  <a:srgbClr val="B3B0AD"/>
                </a:solidFill>
                <a:latin typeface="Segoe UI"/>
              </a:rPr>
              <a:t/>
            </a:r>
          </a:p>
          <a:p>
            <a:pPr>
              <a:lnSpc>
                <a:spcPct val="120000"/>
              </a:lnSpc>
              <a:spcAft>
                <a:spcPts val="1000"/>
              </a:spcAft>
            </a:pPr>
            <a:r>
              <a:rPr sz="1300" b="1" dirty="0">
                <a:solidFill>
                  <a:srgbClr val="F2C811"/>
                </a:solidFill>
                <a:latin typeface="Segoe UI"/>
              </a:rPr>
              <a:t>―  </a:t>
            </a:r>
            <a:r>
              <a:rPr sz="1300" dirty="0">
                <a:solidFill>
                  <a:srgbClr val="B3B0AD"/>
                </a:solidFill>
                <a:latin typeface="Segoe UI"/>
              </a:rPr>
              <a:t>Faker para dados </a:t>
            </a:r>
            <a:r>
              <a:rPr sz="1300" dirty="0" err="1">
                <a:solidFill>
                  <a:srgbClr val="B3B0AD"/>
                </a:solidFill>
                <a:latin typeface="Segoe UI"/>
              </a:rPr>
              <a:t>ficticios</a:t>
            </a:r>
            <a:r>
              <a:rPr sz="1300" dirty="0">
                <a:solidFill>
                  <a:srgbClr val="B3B0AD"/>
                </a:solidFill>
                <a:latin typeface="Segoe UI"/>
              </a:rPr>
              <a:t> </a:t>
            </a:r>
            <a:r>
              <a:rPr sz="1300" dirty="0" err="1">
                <a:solidFill>
                  <a:srgbClr val="B3B0AD"/>
                </a:solidFill>
                <a:latin typeface="Segoe UI"/>
              </a:rPr>
              <a:t>realistas</a:t>
            </a:r>
            <a:endParaRPr sz="1300" dirty="0">
              <a:solidFill>
                <a:srgbClr val="B3B0AD"/>
              </a:solidFill>
              <a:latin typeface="Segoe UI"/>
            </a:endParaRPr>
          </a:p>
          <a:p>
            <a:pPr>
              <a:lnSpc>
                <a:spcPct val="120000"/>
              </a:lnSpc>
              <a:spcAft>
                <a:spcPts val="1000"/>
              </a:spcAft>
            </a:pPr>
            <a:r>
              <a:rPr sz="1300" b="1" dirty="0">
                <a:solidFill>
                  <a:srgbClr val="F2C811"/>
                </a:solidFill>
                <a:latin typeface="Segoe UI"/>
              </a:rPr>
              <a:t>―  </a:t>
            </a:r>
            <a:r>
              <a:rPr sz="1300" dirty="0" err="1">
                <a:solidFill>
                  <a:srgbClr val="B3B0AD"/>
                </a:solidFill>
                <a:latin typeface="Segoe UI"/>
              </a:rPr>
              <a:t>Plotly</a:t>
            </a:r>
            <a:r>
              <a:rPr sz="1300" dirty="0">
                <a:solidFill>
                  <a:srgbClr val="B3B0AD"/>
                </a:solidFill>
                <a:latin typeface="Segoe UI"/>
              </a:rPr>
              <a:t> para </a:t>
            </a:r>
            <a:r>
              <a:rPr sz="1300" dirty="0" err="1">
                <a:solidFill>
                  <a:srgbClr val="B3B0AD"/>
                </a:solidFill>
                <a:latin typeface="Segoe UI"/>
              </a:rPr>
              <a:t>os</a:t>
            </a:r>
            <a:r>
              <a:rPr sz="1300" dirty="0">
                <a:solidFill>
                  <a:srgbClr val="B3B0AD"/>
                </a:solidFill>
                <a:latin typeface="Segoe UI"/>
              </a:rPr>
              <a:t> </a:t>
            </a:r>
            <a:r>
              <a:rPr sz="1300" dirty="0" err="1">
                <a:solidFill>
                  <a:srgbClr val="B3B0AD"/>
                </a:solidFill>
                <a:latin typeface="Segoe UI"/>
              </a:rPr>
              <a:t>graficos</a:t>
            </a:r>
            <a:r>
              <a:rPr sz="1300" dirty="0">
                <a:solidFill>
                  <a:srgbClr val="B3B0AD"/>
                </a:solidFill>
                <a:latin typeface="Segoe UI"/>
              </a:rPr>
              <a:t> do app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72784" y="2011680"/>
            <a:ext cx="5193792" cy="3474720"/>
          </a:xfrm>
          <a:prstGeom prst="roundRect">
            <a:avLst>
              <a:gd name="adj" fmla="val 5000"/>
            </a:avLst>
          </a:prstGeom>
          <a:solidFill>
            <a:srgbClr val="1B1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6501384" y="2240280"/>
            <a:ext cx="365760" cy="44450"/>
          </a:xfrm>
          <a:prstGeom prst="rect">
            <a:avLst/>
          </a:prstGeom>
          <a:solidFill>
            <a:srgbClr val="01B8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501384" y="2560320"/>
            <a:ext cx="475488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1" i="0" spc="150">
                <a:solidFill>
                  <a:srgbClr val="01B8AA"/>
                </a:solidFill>
                <a:latin typeface="Segoe UI Semibold"/>
              </a:rPr>
              <a:t>EXTRAS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01384" y="2926080"/>
            <a:ext cx="4754880" cy="23774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20000"/>
              </a:lnSpc>
              <a:spcAft>
                <a:spcPts val="1000"/>
              </a:spcAft>
            </a:pPr>
            <a:r>
              <a:rPr sz="1300" b="1">
                <a:solidFill>
                  <a:srgbClr val="01B8AA"/>
                </a:solidFill>
                <a:latin typeface="Segoe UI"/>
              </a:rPr>
              <a:t>―  </a:t>
            </a:r>
            <a:r>
              <a:rPr sz="1300">
                <a:solidFill>
                  <a:srgbClr val="B3B0AD"/>
                </a:solidFill>
                <a:latin typeface="Segoe UI"/>
              </a:rPr>
              <a:t>Interface bilingue completa (PT-BR / EN)</a:t>
            </a:r>
          </a:p>
          <a:p>
            <a:pPr>
              <a:lnSpc>
                <a:spcPct val="120000"/>
              </a:lnSpc>
              <a:spcAft>
                <a:spcPts val="1000"/>
              </a:spcAft>
            </a:pPr>
            <a:r>
              <a:rPr sz="1300" b="1">
                <a:solidFill>
                  <a:srgbClr val="01B8AA"/>
                </a:solidFill>
                <a:latin typeface="Segoe UI"/>
              </a:rPr>
              <a:t>―  </a:t>
            </a:r>
            <a:r>
              <a:rPr sz="1300">
                <a:solidFill>
                  <a:srgbClr val="B3B0AD"/>
                </a:solidFill>
                <a:latin typeface="Segoe UI"/>
              </a:rPr>
              <a:t>Tema visual inspirado na paleta oficial do Power BI</a:t>
            </a:r>
          </a:p>
          <a:p>
            <a:pPr>
              <a:lnSpc>
                <a:spcPct val="120000"/>
              </a:lnSpc>
              <a:spcAft>
                <a:spcPts val="1000"/>
              </a:spcAft>
            </a:pPr>
            <a:r>
              <a:rPr sz="1300" b="1">
                <a:solidFill>
                  <a:srgbClr val="01B8AA"/>
                </a:solidFill>
                <a:latin typeface="Segoe UI"/>
              </a:rPr>
              <a:t>―  </a:t>
            </a:r>
            <a:r>
              <a:rPr sz="1300">
                <a:solidFill>
                  <a:srgbClr val="B3B0AD"/>
                </a:solidFill>
                <a:latin typeface="Segoe UI"/>
              </a:rPr>
              <a:t>100% dos dados sao ficticios, gerados via Faker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800" y="6455664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1" i="0" spc="180">
                <a:solidFill>
                  <a:srgbClr val="7A7774"/>
                </a:solidFill>
                <a:latin typeface="Segoe UI Semibold"/>
              </a:rPr>
              <a:t>BI DATA GENERATOR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0" y="6455664"/>
            <a:ext cx="5486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950" b="0" i="0">
                <a:solidFill>
                  <a:srgbClr val="7A7774"/>
                </a:solidFill>
                <a:latin typeface="Segoe UI"/>
              </a:rPr>
              <a:t>15/16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85800" y="6382512"/>
            <a:ext cx="256032" cy="27940"/>
          </a:xfrm>
          <a:prstGeom prst="rect">
            <a:avLst/>
          </a:prstGeom>
          <a:solidFill>
            <a:srgbClr val="F2C8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2121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F2C8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9052560" y="2423160"/>
            <a:ext cx="310896" cy="457200"/>
          </a:xfrm>
          <a:prstGeom prst="roundRect">
            <a:avLst>
              <a:gd name="adj" fmla="val 28000"/>
            </a:avLst>
          </a:prstGeom>
          <a:solidFill>
            <a:srgbClr val="7A77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ounded Rectangle 3"/>
          <p:cNvSpPr/>
          <p:nvPr/>
        </p:nvSpPr>
        <p:spPr>
          <a:xfrm>
            <a:off x="9509760" y="2103120"/>
            <a:ext cx="310896" cy="777240"/>
          </a:xfrm>
          <a:prstGeom prst="roundRect">
            <a:avLst>
              <a:gd name="adj" fmla="val 28000"/>
            </a:avLst>
          </a:prstGeom>
          <a:solidFill>
            <a:srgbClr val="01B8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ounded Rectangle 4"/>
          <p:cNvSpPr/>
          <p:nvPr/>
        </p:nvSpPr>
        <p:spPr>
          <a:xfrm>
            <a:off x="9966960" y="1737360"/>
            <a:ext cx="310896" cy="1143000"/>
          </a:xfrm>
          <a:prstGeom prst="roundRect">
            <a:avLst>
              <a:gd name="adj" fmla="val 28000"/>
            </a:avLst>
          </a:prstGeom>
          <a:solidFill>
            <a:srgbClr val="F2C8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10424160" y="2240280"/>
            <a:ext cx="310896" cy="640080"/>
          </a:xfrm>
          <a:prstGeom prst="roundRect">
            <a:avLst>
              <a:gd name="adj" fmla="val 28000"/>
            </a:avLst>
          </a:prstGeom>
          <a:solidFill>
            <a:srgbClr val="FD62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ounded Rectangle 6"/>
          <p:cNvSpPr/>
          <p:nvPr/>
        </p:nvSpPr>
        <p:spPr>
          <a:xfrm>
            <a:off x="10881360" y="1920240"/>
            <a:ext cx="310896" cy="960120"/>
          </a:xfrm>
          <a:prstGeom prst="roundRect">
            <a:avLst>
              <a:gd name="adj" fmla="val 28000"/>
            </a:avLst>
          </a:prstGeom>
          <a:solidFill>
            <a:srgbClr val="D4AF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685800" y="2468880"/>
            <a:ext cx="91440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1" i="0" spc="240">
                <a:solidFill>
                  <a:srgbClr val="F2C811"/>
                </a:solidFill>
                <a:latin typeface="Segoe UI Semibold"/>
              </a:rPr>
              <a:t>COMECE AGORA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2880360"/>
            <a:ext cx="9875520" cy="12801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200" b="1" i="0">
                <a:solidFill>
                  <a:srgbClr val="F3F2F1"/>
                </a:solidFill>
                <a:latin typeface="Segoe UI Semibold"/>
              </a:rPr>
              <a:t>Gere sua primeira base
em segundos</a:t>
            </a:r>
          </a:p>
        </p:txBody>
      </p:sp>
      <p:sp>
        <p:nvSpPr>
          <p:cNvPr id="10" name="Rectangle 9"/>
          <p:cNvSpPr/>
          <p:nvPr/>
        </p:nvSpPr>
        <p:spPr>
          <a:xfrm>
            <a:off x="685800" y="4343400"/>
            <a:ext cx="502920" cy="31750"/>
          </a:xfrm>
          <a:prstGeom prst="rect">
            <a:avLst/>
          </a:prstGeom>
          <a:solidFill>
            <a:srgbClr val="F2C8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85800" y="4480560"/>
            <a:ext cx="73152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600" b="1" i="0">
                <a:solidFill>
                  <a:srgbClr val="F2C811"/>
                </a:solidFill>
                <a:latin typeface="Segoe UI Semibold"/>
              </a:rPr>
              <a:t>rodrigoaiosa.streamlit.app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8</TotalTime>
  <Words>957</Words>
  <Application>Microsoft Office PowerPoint</Application>
  <PresentationFormat>Widescreen</PresentationFormat>
  <Paragraphs>170</Paragraphs>
  <Slides>14</Slides>
  <Notes>0</Notes>
  <HiddenSlides>0</HiddenSlides>
  <MMClips>0</MMClips>
  <ScaleCrop>false</ScaleCrop>
  <HeadingPairs>
    <vt:vector size="6" baseType="variant">
      <vt:variant>
        <vt:lpstr>Fontes usadas</vt:lpstr>
      </vt:variant>
      <vt:variant>
        <vt:i4>4</vt:i4>
      </vt:variant>
      <vt:variant>
        <vt:lpstr>Tema</vt:lpstr>
      </vt:variant>
      <vt:variant>
        <vt:i4>1</vt:i4>
      </vt:variant>
      <vt:variant>
        <vt:lpstr>Títulos de slides</vt:lpstr>
      </vt:variant>
      <vt:variant>
        <vt:i4>14</vt:i4>
      </vt:variant>
    </vt:vector>
  </HeadingPairs>
  <TitlesOfParts>
    <vt:vector size="19" baseType="lpstr">
      <vt:lpstr>Arial</vt:lpstr>
      <vt:lpstr>Calibri</vt:lpstr>
      <vt:lpstr>Segoe UI</vt:lpstr>
      <vt:lpstr>Segoe UI Semibold</vt:lpstr>
      <vt:lpstr>Office Theme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RODRIGO</dc:creator>
  <cp:keywords/>
  <dc:description>generated using python-pptx</dc:description>
  <cp:lastModifiedBy>Rodrigo Aiosa</cp:lastModifiedBy>
  <cp:revision>1</cp:revision>
  <dcterms:created xsi:type="dcterms:W3CDTF">2013-01-27T09:14:16Z</dcterms:created>
  <dcterms:modified xsi:type="dcterms:W3CDTF">2026-08-31T15:20:51Z</dcterms:modified>
  <cp:category/>
</cp:coreProperties>
</file>