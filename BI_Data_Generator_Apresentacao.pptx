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70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Aiosa" userId="0816740ef5516908" providerId="LiveId" clId="{55D8B7BC-FA06-40D3-A55F-1FA74549701A}"/>
    <pc:docChg chg="custSel modSld">
      <pc:chgData name="Rodrigo Aiosa" userId="0816740ef5516908" providerId="LiveId" clId="{55D8B7BC-FA06-40D3-A55F-1FA74549701A}" dt="2026-09-05T02:36:57.327" v="27"/>
      <pc:docMkLst>
        <pc:docMk/>
      </pc:docMkLst>
      <pc:sldChg chg="modSp mod modTransition">
        <pc:chgData name="Rodrigo Aiosa" userId="0816740ef5516908" providerId="LiveId" clId="{55D8B7BC-FA06-40D3-A55F-1FA74549701A}" dt="2026-09-05T02:36:57.327" v="27"/>
        <pc:sldMkLst>
          <pc:docMk/>
          <pc:sldMk cId="0" sldId="256"/>
        </pc:sldMkLst>
        <pc:spChg chg="mod">
          <ac:chgData name="Rodrigo Aiosa" userId="0816740ef5516908" providerId="LiveId" clId="{55D8B7BC-FA06-40D3-A55F-1FA74549701A}" dt="2026-08-31T11:35:14.146" v="16" actId="20577"/>
          <ac:spMkLst>
            <pc:docMk/>
            <pc:sldMk cId="0" sldId="256"/>
            <ac:spMk id="9" creationId="{00000000-0000-0000-0000-000000000000}"/>
          </ac:spMkLst>
        </pc:spChg>
      </pc:sldChg>
      <pc:sldChg chg="modTransition">
        <pc:chgData name="Rodrigo Aiosa" userId="0816740ef5516908" providerId="LiveId" clId="{55D8B7BC-FA06-40D3-A55F-1FA74549701A}" dt="2026-09-05T02:36:57.327" v="27"/>
        <pc:sldMkLst>
          <pc:docMk/>
          <pc:sldMk cId="0" sldId="257"/>
        </pc:sldMkLst>
      </pc:sldChg>
      <pc:sldChg chg="modSp mod modTransition">
        <pc:chgData name="Rodrigo Aiosa" userId="0816740ef5516908" providerId="LiveId" clId="{55D8B7BC-FA06-40D3-A55F-1FA74549701A}" dt="2026-09-05T02:36:57.327" v="27"/>
        <pc:sldMkLst>
          <pc:docMk/>
          <pc:sldMk cId="0" sldId="258"/>
        </pc:sldMkLst>
        <pc:spChg chg="mod">
          <ac:chgData name="Rodrigo Aiosa" userId="0816740ef5516908" providerId="LiveId" clId="{55D8B7BC-FA06-40D3-A55F-1FA74549701A}" dt="2026-08-31T15:19:24.936" v="19" actId="20577"/>
          <ac:spMkLst>
            <pc:docMk/>
            <pc:sldMk cId="0" sldId="258"/>
            <ac:spMk id="7" creationId="{00000000-0000-0000-0000-000000000000}"/>
          </ac:spMkLst>
        </pc:spChg>
      </pc:sldChg>
      <pc:sldChg chg="modTransition">
        <pc:chgData name="Rodrigo Aiosa" userId="0816740ef5516908" providerId="LiveId" clId="{55D8B7BC-FA06-40D3-A55F-1FA74549701A}" dt="2026-09-05T02:36:57.327" v="27"/>
        <pc:sldMkLst>
          <pc:docMk/>
          <pc:sldMk cId="0" sldId="259"/>
        </pc:sldMkLst>
      </pc:sldChg>
      <pc:sldChg chg="modSp mod modTransition">
        <pc:chgData name="Rodrigo Aiosa" userId="0816740ef5516908" providerId="LiveId" clId="{55D8B7BC-FA06-40D3-A55F-1FA74549701A}" dt="2026-09-05T02:36:57.327" v="27"/>
        <pc:sldMkLst>
          <pc:docMk/>
          <pc:sldMk cId="0" sldId="260"/>
        </pc:sldMkLst>
        <pc:spChg chg="mod">
          <ac:chgData name="Rodrigo Aiosa" userId="0816740ef5516908" providerId="LiveId" clId="{55D8B7BC-FA06-40D3-A55F-1FA74549701A}" dt="2026-08-31T15:20:49.282" v="26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drigo Aiosa" userId="0816740ef5516908" providerId="LiveId" clId="{55D8B7BC-FA06-40D3-A55F-1FA74549701A}" dt="2026-08-31T15:20:45.638" v="24" actId="20577"/>
          <ac:spMkLst>
            <pc:docMk/>
            <pc:sldMk cId="0" sldId="260"/>
            <ac:spMk id="6" creationId="{00000000-0000-0000-0000-000000000000}"/>
          </ac:spMkLst>
        </pc:spChg>
      </pc:sldChg>
      <pc:sldChg chg="modTransition">
        <pc:chgData name="Rodrigo Aiosa" userId="0816740ef5516908" providerId="LiveId" clId="{55D8B7BC-FA06-40D3-A55F-1FA74549701A}" dt="2026-09-05T02:36:57.327" v="27"/>
        <pc:sldMkLst>
          <pc:docMk/>
          <pc:sldMk cId="0" sldId="261"/>
        </pc:sldMkLst>
      </pc:sldChg>
      <pc:sldChg chg="modTransition">
        <pc:chgData name="Rodrigo Aiosa" userId="0816740ef5516908" providerId="LiveId" clId="{55D8B7BC-FA06-40D3-A55F-1FA74549701A}" dt="2026-09-05T02:36:57.327" v="27"/>
        <pc:sldMkLst>
          <pc:docMk/>
          <pc:sldMk cId="0" sldId="262"/>
        </pc:sldMkLst>
      </pc:sldChg>
      <pc:sldChg chg="modTransition">
        <pc:chgData name="Rodrigo Aiosa" userId="0816740ef5516908" providerId="LiveId" clId="{55D8B7BC-FA06-40D3-A55F-1FA74549701A}" dt="2026-09-05T02:36:57.327" v="27"/>
        <pc:sldMkLst>
          <pc:docMk/>
          <pc:sldMk cId="0" sldId="263"/>
        </pc:sldMkLst>
      </pc:sldChg>
      <pc:sldChg chg="modSp mod modTransition">
        <pc:chgData name="Rodrigo Aiosa" userId="0816740ef5516908" providerId="LiveId" clId="{55D8B7BC-FA06-40D3-A55F-1FA74549701A}" dt="2026-09-05T02:36:57.327" v="27"/>
        <pc:sldMkLst>
          <pc:docMk/>
          <pc:sldMk cId="0" sldId="264"/>
        </pc:sldMkLst>
        <pc:spChg chg="mod">
          <ac:chgData name="Rodrigo Aiosa" userId="0816740ef5516908" providerId="LiveId" clId="{55D8B7BC-FA06-40D3-A55F-1FA74549701A}" dt="2026-08-31T11:34:44.822" v="12" actId="20577"/>
          <ac:spMkLst>
            <pc:docMk/>
            <pc:sldMk cId="0" sldId="264"/>
            <ac:spMk id="3" creationId="{00000000-0000-0000-0000-000000000000}"/>
          </ac:spMkLst>
        </pc:spChg>
      </pc:sldChg>
      <pc:sldChg chg="modTransition">
        <pc:chgData name="Rodrigo Aiosa" userId="0816740ef5516908" providerId="LiveId" clId="{55D8B7BC-FA06-40D3-A55F-1FA74549701A}" dt="2026-09-05T02:36:57.327" v="27"/>
        <pc:sldMkLst>
          <pc:docMk/>
          <pc:sldMk cId="0" sldId="265"/>
        </pc:sldMkLst>
      </pc:sldChg>
      <pc:sldChg chg="modSp mod modTransition">
        <pc:chgData name="Rodrigo Aiosa" userId="0816740ef5516908" providerId="LiveId" clId="{55D8B7BC-FA06-40D3-A55F-1FA74549701A}" dt="2026-09-05T02:36:57.327" v="27"/>
        <pc:sldMkLst>
          <pc:docMk/>
          <pc:sldMk cId="0" sldId="266"/>
        </pc:sldMkLst>
        <pc:spChg chg="mod">
          <ac:chgData name="Rodrigo Aiosa" userId="0816740ef5516908" providerId="LiveId" clId="{55D8B7BC-FA06-40D3-A55F-1FA74549701A}" dt="2026-08-31T11:34:35.038" v="10" actId="20577"/>
          <ac:spMkLst>
            <pc:docMk/>
            <pc:sldMk cId="0" sldId="266"/>
            <ac:spMk id="3" creationId="{00000000-0000-0000-0000-000000000000}"/>
          </ac:spMkLst>
        </pc:spChg>
      </pc:sldChg>
      <pc:sldChg chg="modTransition">
        <pc:chgData name="Rodrigo Aiosa" userId="0816740ef5516908" providerId="LiveId" clId="{55D8B7BC-FA06-40D3-A55F-1FA74549701A}" dt="2026-09-05T02:36:57.327" v="27"/>
        <pc:sldMkLst>
          <pc:docMk/>
          <pc:sldMk cId="0" sldId="267"/>
        </pc:sldMkLst>
      </pc:sldChg>
      <pc:sldChg chg="modSp mod modTransition">
        <pc:chgData name="Rodrigo Aiosa" userId="0816740ef5516908" providerId="LiveId" clId="{55D8B7BC-FA06-40D3-A55F-1FA74549701A}" dt="2026-09-05T02:36:57.327" v="27"/>
        <pc:sldMkLst>
          <pc:docMk/>
          <pc:sldMk cId="0" sldId="268"/>
        </pc:sldMkLst>
        <pc:spChg chg="mod">
          <ac:chgData name="Rodrigo Aiosa" userId="0816740ef5516908" providerId="LiveId" clId="{55D8B7BC-FA06-40D3-A55F-1FA74549701A}" dt="2026-08-31T11:34:22.965" v="6" actId="20577"/>
          <ac:spMkLst>
            <pc:docMk/>
            <pc:sldMk cId="0" sldId="268"/>
            <ac:spMk id="7" creationId="{00000000-0000-0000-0000-000000000000}"/>
          </ac:spMkLst>
        </pc:spChg>
      </pc:sldChg>
      <pc:sldChg chg="delSp mod modTransition">
        <pc:chgData name="Rodrigo Aiosa" userId="0816740ef5516908" providerId="LiveId" clId="{55D8B7BC-FA06-40D3-A55F-1FA74549701A}" dt="2026-09-05T02:36:57.327" v="27"/>
        <pc:sldMkLst>
          <pc:docMk/>
          <pc:sldMk cId="0" sldId="269"/>
        </pc:sldMkLst>
      </pc:sldChg>
      <pc:sldChg chg="modTransition">
        <pc:chgData name="Rodrigo Aiosa" userId="0816740ef5516908" providerId="LiveId" clId="{55D8B7BC-FA06-40D3-A55F-1FA74549701A}" dt="2026-09-05T02:36:57.327" v="27"/>
        <pc:sldMkLst>
          <pc:docMk/>
          <pc:sldMk cId="0" sldId="270"/>
        </pc:sldMkLst>
      </pc:sldChg>
      <pc:sldChg chg="modTransition">
        <pc:chgData name="Rodrigo Aiosa" userId="0816740ef5516908" providerId="LiveId" clId="{55D8B7BC-FA06-40D3-A55F-1FA74549701A}" dt="2026-09-05T02:36:57.327" v="27"/>
        <pc:sldMkLst>
          <pc:docMk/>
          <pc:sldMk cId="0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052560" y="2148840"/>
            <a:ext cx="310896" cy="457200"/>
          </a:xfrm>
          <a:prstGeom prst="roundRect">
            <a:avLst>
              <a:gd name="adj" fmla="val 28000"/>
            </a:avLst>
          </a:prstGeom>
          <a:solidFill>
            <a:srgbClr val="7A7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509760" y="1828800"/>
            <a:ext cx="310896" cy="777240"/>
          </a:xfrm>
          <a:prstGeom prst="roundRect">
            <a:avLst>
              <a:gd name="adj" fmla="val 28000"/>
            </a:avLst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66960" y="1463040"/>
            <a:ext cx="310896" cy="1143000"/>
          </a:xfrm>
          <a:prstGeom prst="roundRect">
            <a:avLst>
              <a:gd name="adj" fmla="val 28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424160" y="1965960"/>
            <a:ext cx="310896" cy="640080"/>
          </a:xfrm>
          <a:prstGeom prst="roundRect">
            <a:avLst>
              <a:gd name="adj" fmla="val 28000"/>
            </a:avLst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881360" y="1645920"/>
            <a:ext cx="310896" cy="960120"/>
          </a:xfrm>
          <a:prstGeom prst="roundRect">
            <a:avLst>
              <a:gd name="adj" fmla="val 28000"/>
            </a:avLst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40">
                <a:solidFill>
                  <a:srgbClr val="01B8AA"/>
                </a:solidFill>
                <a:latin typeface="Segoe UI Semibold"/>
              </a:rPr>
              <a:t>FERRAMENTA DE ESTUDO PARA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1051560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 i="0" dirty="0">
                <a:solidFill>
                  <a:srgbClr val="F3F2F1"/>
                </a:solidFill>
                <a:latin typeface="Segoe UI Semibold"/>
              </a:rPr>
              <a:t>BI Data Generator</a:t>
            </a:r>
            <a:r>
              <a:rPr lang="pt-BR" sz="5600" b="1" i="0" dirty="0">
                <a:solidFill>
                  <a:srgbClr val="F3F2F1"/>
                </a:solidFill>
                <a:latin typeface="Segoe UI Semibold"/>
              </a:rPr>
              <a:t> PRO</a:t>
            </a:r>
            <a:endParaRPr sz="5600" b="1" i="0" dirty="0">
              <a:solidFill>
                <a:srgbClr val="F3F2F1"/>
              </a:solidFill>
              <a:latin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8778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B3B0AD"/>
                </a:solidFill>
                <a:latin typeface="Segoe UI"/>
              </a:rPr>
              <a:t>Dados sinteticos em modelo estrela, medidas DAX e modelo TMDL prontos
para praticar Power BI, DAX, SQL e modelagem dimensional.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892040"/>
            <a:ext cx="502920" cy="317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029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2C811"/>
                </a:solidFill>
                <a:latin typeface="Segoe UI Semibold"/>
              </a:rPr>
              <a:t>rodrigoaiosa.streamlit.app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09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7A7774"/>
                </a:solidFill>
                <a:latin typeface="Segoe UI Semibold"/>
              </a:rPr>
              <a:t>200 SETORES  ·  10.696 MEDIDAS DAX  ·  10 FERRAMENTAS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D625E"/>
                </a:solidFill>
                <a:latin typeface="Segoe UI Semibold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Falta dado bom pra praticar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61264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50">
                <a:solidFill>
                  <a:srgbClr val="B3B0AD"/>
                </a:solidFill>
                <a:latin typeface="Segoe UI"/>
              </a:rPr>
              <a:t>Criar tabelas na mao e lento e nunca tem sazonalidade real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50">
                <a:solidFill>
                  <a:srgbClr val="B3B0AD"/>
                </a:solidFill>
                <a:latin typeface="Segoe UI"/>
              </a:rPr>
              <a:t>Bases publicas raramente refletem um modelo dimensional coerente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50">
                <a:solidFill>
                  <a:srgbClr val="B3B0AD"/>
                </a:solidFill>
                <a:latin typeface="Segoe UI"/>
              </a:rPr>
              <a:t>Dados reais costumam ser sensiveis ou dificeis de conseguir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965960"/>
            <a:ext cx="4069080" cy="329184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35240" y="2194560"/>
            <a:ext cx="365760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2514600"/>
            <a:ext cx="35661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3F2F1"/>
                </a:solidFill>
                <a:latin typeface="Segoe UI Semibold"/>
              </a:rPr>
              <a:t>Resultado: horas montando planilha do zero em vez de praticar analise de verdade.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02/16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A SOLUCAO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Escolha. Configure. Gere.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2C811"/>
                </a:solidFill>
                <a:latin typeface="Segoe UI Semibold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971800"/>
            <a:ext cx="457200" cy="381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3F2F1"/>
                </a:solidFill>
                <a:latin typeface="Segoe UI Semibold"/>
              </a:rPr>
              <a:t>Escolha o setor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39312"/>
            <a:ext cx="3291840" cy="4571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pt-BR" sz="1250" b="0" i="0" dirty="0">
                <a:solidFill>
                  <a:srgbClr val="B3B0AD"/>
                </a:solidFill>
                <a:latin typeface="Segoe UI"/>
              </a:rPr>
              <a:t>200</a:t>
            </a:r>
            <a:r>
              <a:rPr sz="1250" b="0" i="0" dirty="0">
                <a:solidFill>
                  <a:srgbClr val="B3B0AD"/>
                </a:solidFill>
                <a:latin typeface="Segoe UI"/>
              </a:rPr>
              <a:t> bases de </a:t>
            </a:r>
            <a:r>
              <a:rPr sz="1250" b="0" i="0" dirty="0" err="1">
                <a:solidFill>
                  <a:srgbClr val="B3B0AD"/>
                </a:solidFill>
                <a:latin typeface="Segoe UI"/>
              </a:rPr>
              <a:t>negocio</a:t>
            </a:r>
            <a:r>
              <a:rPr sz="1250" b="0" i="0" dirty="0">
                <a:solidFill>
                  <a:srgbClr val="B3B0AD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B3B0AD"/>
                </a:solidFill>
                <a:latin typeface="Segoe UI"/>
              </a:rPr>
              <a:t>prontas</a:t>
            </a:r>
            <a:r>
              <a:rPr sz="1250" b="0" i="0" dirty="0">
                <a:solidFill>
                  <a:srgbClr val="B3B0AD"/>
                </a:solidFill>
                <a:latin typeface="Segoe UI"/>
              </a:rPr>
              <a:t>, com </a:t>
            </a:r>
            <a:r>
              <a:rPr sz="1250" b="0" i="0" dirty="0" err="1">
                <a:solidFill>
                  <a:srgbClr val="B3B0AD"/>
                </a:solidFill>
                <a:latin typeface="Segoe UI"/>
              </a:rPr>
              <a:t>busca</a:t>
            </a:r>
            <a:r>
              <a:rPr sz="1250" b="0" i="0" dirty="0">
                <a:solidFill>
                  <a:srgbClr val="B3B0AD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B3B0AD"/>
                </a:solidFill>
                <a:latin typeface="Segoe UI"/>
              </a:rPr>
              <a:t>na</a:t>
            </a:r>
            <a:r>
              <a:rPr sz="1250" b="0" i="0" dirty="0">
                <a:solidFill>
                  <a:srgbClr val="B3B0AD"/>
                </a:solidFill>
                <a:latin typeface="Segoe UI"/>
              </a:rPr>
              <a:t> barra lateral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1688" y="21031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1B8AA"/>
                </a:solidFill>
                <a:latin typeface="Segoe UI Semibold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971800"/>
            <a:ext cx="457200" cy="3810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61688" y="315468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3F2F1"/>
                </a:solidFill>
                <a:latin typeface="Segoe UI Semibold"/>
              </a:rPr>
              <a:t>Defina periodo e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3639312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B3B0AD"/>
                </a:solidFill>
                <a:latin typeface="Segoe UI"/>
              </a:rPr>
              <a:t>Qualquer intervalo de datas; de 100 a 100.000 linhas na fato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7576" y="21031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D625E"/>
                </a:solidFill>
                <a:latin typeface="Segoe UI Semibold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7576" y="2971800"/>
            <a:ext cx="457200" cy="3810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37576" y="315468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3F2F1"/>
                </a:solidFill>
                <a:latin typeface="Segoe UI Semibold"/>
              </a:rPr>
              <a:t>Gere a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6" y="3639312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B3B0AD"/>
                </a:solidFill>
                <a:latin typeface="Segoe UI"/>
              </a:rPr>
              <a:t>Pacote completo pronto em segundos, com barra de progresso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03/16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PACOTE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Tudo pronto pra importar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" y="2212848"/>
            <a:ext cx="310896" cy="444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Tabela Fato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6148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Chaves estrangeiras e metricas numericas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2011680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75304" y="2212848"/>
            <a:ext cx="310896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75304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Tabelas Dimensao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276148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Atributos descritivos e chave primaria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2472" y="2011680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2212848"/>
            <a:ext cx="310896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dCalendario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76148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Serie temporal pronta pro Power Query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0808" y="2011680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51976" y="2212848"/>
            <a:ext cx="310896" cy="4445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51976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Medidas DAX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1976" y="276148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Sugeridas automaticamente, por categoria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67912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6968" y="4069080"/>
            <a:ext cx="310896" cy="444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2336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Modelo TMDL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6177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Tabelas, relacionamentos e medidas prontos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3867912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75304" y="4069080"/>
            <a:ext cx="310896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75304" y="42336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Dicionario de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46177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PT/EN, explica cada tabela e coluna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62472" y="3867912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4069080"/>
            <a:ext cx="310896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42336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Scripts 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6177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DDL/INSERT em 3 dialetos diferentes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50808" y="3867912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51976" y="4069080"/>
            <a:ext cx="310896" cy="4445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51976" y="42336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Case de negocio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46177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Contexto ficticio com objetivo real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04/16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EM NUMEROS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Escala real, sem esforco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2551176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600" b="1" i="0" dirty="0">
                <a:solidFill>
                  <a:srgbClr val="F2C811"/>
                </a:solidFill>
                <a:latin typeface="Segoe UI Semibold"/>
              </a:rPr>
              <a:t>20</a:t>
            </a:r>
            <a:r>
              <a:rPr sz="4600" b="1" i="0" dirty="0">
                <a:solidFill>
                  <a:srgbClr val="F2C811"/>
                </a:solidFill>
                <a:latin typeface="Segoe UI Semibold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29000"/>
            <a:ext cx="25511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3B0AD"/>
                </a:solidFill>
                <a:latin typeface="Segoe UI"/>
              </a:rPr>
              <a:t>setores de negocio prontos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9856" y="2468880"/>
            <a:ext cx="2551176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600" b="1" i="0" dirty="0">
                <a:solidFill>
                  <a:srgbClr val="01B8AA"/>
                </a:solidFill>
                <a:latin typeface="Segoe UI Semibold"/>
              </a:rPr>
              <a:t>10</a:t>
            </a:r>
            <a:r>
              <a:rPr sz="4600" b="1" i="0" dirty="0">
                <a:solidFill>
                  <a:srgbClr val="01B8AA"/>
                </a:solidFill>
                <a:latin typeface="Segoe UI Semibold"/>
              </a:rPr>
              <a:t>.</a:t>
            </a:r>
            <a:r>
              <a:rPr lang="pt-BR" sz="4600" b="1" i="0" dirty="0">
                <a:solidFill>
                  <a:srgbClr val="01B8AA"/>
                </a:solidFill>
                <a:latin typeface="Segoe UI Semibold"/>
              </a:rPr>
              <a:t>696</a:t>
            </a:r>
            <a:endParaRPr sz="4600" b="1" i="0" dirty="0">
              <a:solidFill>
                <a:srgbClr val="01B8AA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19856" y="3429000"/>
            <a:ext cx="25511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3B0AD"/>
                </a:solidFill>
                <a:latin typeface="Segoe UI"/>
              </a:rPr>
              <a:t>medidas DAX diferentes, sem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2468880"/>
            <a:ext cx="255117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FD625E"/>
                </a:solidFill>
                <a:latin typeface="Segoe UI Semibold"/>
              </a:rPr>
              <a:t>100 mil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912" y="3429000"/>
            <a:ext cx="25511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3B0AD"/>
                </a:solidFill>
                <a:latin typeface="Segoe UI"/>
              </a:rPr>
              <a:t>linhas configuraveis na fato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2468880"/>
            <a:ext cx="255117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D4AF0A"/>
                </a:solidFill>
                <a:latin typeface="Segoe UI Semibold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3429000"/>
            <a:ext cx="25511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3B0AD"/>
                </a:solidFill>
                <a:latin typeface="Segoe UI"/>
              </a:rPr>
              <a:t>ferramentas dentro de um so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05/16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UM APP, DEZ FERRAMENTAS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Da geracao de dados a certificacao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2057400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" y="2212848"/>
            <a:ext cx="310896" cy="4572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377440"/>
            <a:ext cx="1655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F2C811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633472"/>
            <a:ext cx="1655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3F2F1"/>
                </a:solidFill>
                <a:latin typeface="Segoe UI Semibold"/>
              </a:rPr>
              <a:t>Gerador de Setores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017520"/>
            <a:ext cx="16550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3B0AD"/>
                </a:solidFill>
                <a:latin typeface="Segoe UI"/>
              </a:rPr>
              <a:t>200 bases prontas em modelo estrela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011680"/>
            <a:ext cx="2057400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81528" y="2212848"/>
            <a:ext cx="310896" cy="4572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81528" y="2377440"/>
            <a:ext cx="1655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01B8AA"/>
                </a:solidFill>
                <a:latin typeface="Segoe UI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633472"/>
            <a:ext cx="1655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3F2F1"/>
                </a:solidFill>
                <a:latin typeface="Segoe UI Semibold"/>
              </a:rPr>
              <a:t>Automatizar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3017520"/>
            <a:ext cx="16550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3B0AD"/>
                </a:solidFill>
                <a:latin typeface="Segoe UI"/>
              </a:rPr>
              <a:t>Sua planilha vira medidas DAX + TMDL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2011680"/>
            <a:ext cx="2057400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76088" y="2212848"/>
            <a:ext cx="310896" cy="4572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76088" y="2377440"/>
            <a:ext cx="1655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FD625E"/>
                </a:solidFill>
                <a:latin typeface="Segoe UI Semi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2633472"/>
            <a:ext cx="1655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3F2F1"/>
                </a:solidFill>
                <a:latin typeface="Segoe UI Semibold"/>
              </a:rPr>
              <a:t>Simulador PL-300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3017520"/>
            <a:ext cx="16550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3B0AD"/>
                </a:solidFill>
                <a:latin typeface="Segoe UI"/>
              </a:rPr>
              <a:t>Quiz de pratica pra certificacao oficial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79" y="2011680"/>
            <a:ext cx="2057400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70648" y="2212848"/>
            <a:ext cx="310896" cy="4572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70648" y="2377440"/>
            <a:ext cx="1655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D4AF0A"/>
                </a:solidFill>
                <a:latin typeface="Segoe UI Semi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8" y="2633472"/>
            <a:ext cx="1655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3F2F1"/>
                </a:solidFill>
                <a:latin typeface="Segoe UI Semibold"/>
              </a:rPr>
              <a:t>Dados Causais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3017520"/>
            <a:ext cx="16550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3B0AD"/>
                </a:solidFill>
                <a:latin typeface="Segoe UI"/>
              </a:rPr>
              <a:t>Relacao causa-efeito conhecida de proposito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2011680"/>
            <a:ext cx="2057400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65208" y="2212848"/>
            <a:ext cx="310896" cy="4572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65208" y="2377440"/>
            <a:ext cx="1655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F2C811"/>
                </a:solidFill>
                <a:latin typeface="Segoe UI Semibol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208" y="2633472"/>
            <a:ext cx="1655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3F2F1"/>
                </a:solidFill>
                <a:latin typeface="Segoe UI Semibold"/>
              </a:rPr>
              <a:t>Formatar DAX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8" y="3017520"/>
            <a:ext cx="16550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3B0AD"/>
                </a:solidFill>
                <a:latin typeface="Segoe UI"/>
              </a:rPr>
              <a:t>Expressao bagunçada vira codigo legivel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867912"/>
            <a:ext cx="2057400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86968" y="4069080"/>
            <a:ext cx="310896" cy="4572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6968" y="4233672"/>
            <a:ext cx="1655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01B8AA"/>
                </a:solidFill>
                <a:latin typeface="Segoe UI Semibold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4489704"/>
            <a:ext cx="1655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3F2F1"/>
                </a:solidFill>
                <a:latin typeface="Segoe UI Semibold"/>
              </a:rPr>
              <a:t>Formatar 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873752"/>
            <a:ext cx="16550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3B0AD"/>
                </a:solidFill>
                <a:latin typeface="Segoe UI"/>
              </a:rPr>
              <a:t>Mesmo principio, pro Power Query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0360" y="3867912"/>
            <a:ext cx="2057400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081528" y="4069080"/>
            <a:ext cx="310896" cy="4572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81528" y="4233672"/>
            <a:ext cx="1655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FD625E"/>
                </a:solidFill>
                <a:latin typeface="Segoe UI Semibold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81528" y="4489704"/>
            <a:ext cx="1655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3F2F1"/>
                </a:solidFill>
                <a:latin typeface="Segoe UI Semibold"/>
              </a:rPr>
              <a:t>Auditor de Modelo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81528" y="4873752"/>
            <a:ext cx="16550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3B0AD"/>
                </a:solidFill>
                <a:latin typeface="Segoe UI"/>
              </a:rPr>
              <a:t>Nota de qualidade pro seu TMDL real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74920" y="3867912"/>
            <a:ext cx="2057400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276088" y="4069080"/>
            <a:ext cx="310896" cy="4572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76088" y="4233672"/>
            <a:ext cx="1655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D4AF0A"/>
                </a:solidFill>
                <a:latin typeface="Segoe UI Semibold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76088" y="4489704"/>
            <a:ext cx="1655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3F2F1"/>
                </a:solidFill>
                <a:latin typeface="Segoe UI Semibold"/>
              </a:rPr>
              <a:t>DAX Sandbox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76088" y="4873752"/>
            <a:ext cx="16550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3B0AD"/>
                </a:solidFill>
                <a:latin typeface="Segoe UI"/>
              </a:rPr>
              <a:t>Medida DAX calculada de verdade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06/16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38"/>
          <p:cNvSpPr/>
          <p:nvPr/>
        </p:nvSpPr>
        <p:spPr>
          <a:xfrm>
            <a:off x="7269479" y="3867912"/>
            <a:ext cx="2057400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39"/>
          <p:cNvSpPr/>
          <p:nvPr/>
        </p:nvSpPr>
        <p:spPr>
          <a:xfrm>
            <a:off x="7470648" y="4069080"/>
            <a:ext cx="310896" cy="4572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0"/>
          <p:cNvSpPr txBox="1"/>
          <p:nvPr/>
        </p:nvSpPr>
        <p:spPr>
          <a:xfrm>
            <a:off x="7470648" y="4233672"/>
            <a:ext cx="1655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D4AF0A"/>
                </a:solidFill>
                <a:latin typeface="Segoe UI Semibold"/>
              </a:rPr>
              <a:t>09</a:t>
            </a:r>
          </a:p>
        </p:txBody>
      </p:sp>
      <p:sp>
        <p:nvSpPr>
          <p:cNvPr id="50" name="TextBox 41"/>
          <p:cNvSpPr txBox="1"/>
          <p:nvPr/>
        </p:nvSpPr>
        <p:spPr>
          <a:xfrm>
            <a:off x="7470648" y="4489704"/>
            <a:ext cx="1655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3F2F1"/>
                </a:solidFill>
                <a:latin typeface="Segoe UI Semibold"/>
              </a:rPr>
              <a:t>Pergunte aos Dados</a:t>
            </a:r>
          </a:p>
        </p:txBody>
      </p:sp>
      <p:sp>
        <p:nvSpPr>
          <p:cNvPr id="51" name="TextBox 42"/>
          <p:cNvSpPr txBox="1"/>
          <p:nvPr/>
        </p:nvSpPr>
        <p:spPr>
          <a:xfrm>
            <a:off x="7470648" y="4873752"/>
            <a:ext cx="16550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3B0AD"/>
                </a:solidFill>
                <a:latin typeface="Segoe UI"/>
              </a:rPr>
              <a:t>Pergunta em português vira medida DAX</a:t>
            </a:r>
          </a:p>
        </p:txBody>
      </p:sp>
      <p:sp>
        <p:nvSpPr>
          <p:cNvPr id="52" name="Rounded Rectangle 38"/>
          <p:cNvSpPr/>
          <p:nvPr/>
        </p:nvSpPr>
        <p:spPr>
          <a:xfrm>
            <a:off x="9464040" y="3867912"/>
            <a:ext cx="2057400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39"/>
          <p:cNvSpPr/>
          <p:nvPr/>
        </p:nvSpPr>
        <p:spPr>
          <a:xfrm>
            <a:off x="9665208" y="4069080"/>
            <a:ext cx="310896" cy="4572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40"/>
          <p:cNvSpPr txBox="1"/>
          <p:nvPr/>
        </p:nvSpPr>
        <p:spPr>
          <a:xfrm>
            <a:off x="9665208" y="4233672"/>
            <a:ext cx="1655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D4AF0A"/>
                </a:solidFill>
                <a:latin typeface="Segoe UI Semibold"/>
              </a:rPr>
              <a:t>10</a:t>
            </a:r>
          </a:p>
        </p:txBody>
      </p:sp>
      <p:sp>
        <p:nvSpPr>
          <p:cNvPr id="55" name="TextBox 41"/>
          <p:cNvSpPr txBox="1"/>
          <p:nvPr/>
        </p:nvSpPr>
        <p:spPr>
          <a:xfrm>
            <a:off x="9665208" y="4489704"/>
            <a:ext cx="1655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3F2F1"/>
                </a:solidFill>
                <a:latin typeface="Segoe UI Semibold"/>
              </a:rPr>
              <a:t>Carrossel Power BI</a:t>
            </a:r>
          </a:p>
        </p:txBody>
      </p:sp>
      <p:sp>
        <p:nvSpPr>
          <p:cNvPr id="56" name="TextBox 42"/>
          <p:cNvSpPr txBox="1"/>
          <p:nvPr/>
        </p:nvSpPr>
        <p:spPr>
          <a:xfrm>
            <a:off x="9665208" y="4873752"/>
            <a:ext cx="16550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3B0AD"/>
                </a:solidFill>
                <a:latin typeface="Segoe UI"/>
              </a:rPr>
              <a:t>HTML que roda sozinho, direto do .pbix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2C811"/>
                </a:solidFill>
                <a:latin typeface="Segoe UI Semibold"/>
              </a:rPr>
              <a:t>01 · GERADOR DE SETORES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200 setores, modelo estrela pronto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Busca por setor, periodo livre e volume via slider (100 a 100.000 linhas)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Modo anomalias: 4 tipos de problema pra praticar analise de causa raiz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Deriva temporal (concept drift): mudanca gradual, sem evento unico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Gabarito documentado, util pra quem ensina conferir a analise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2C811"/>
                </a:solidFill>
                <a:latin typeface="Segoe UI Semibold"/>
              </a:rPr>
              <a:t>STAR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926080"/>
            <a:ext cx="34290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250">
                <a:solidFill>
                  <a:srgbClr val="B3B0AD"/>
                </a:solidFill>
                <a:latin typeface="Segoe UI"/>
              </a:rPr>
              <a:t>Fato + dimensoes + dCalendario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250">
                <a:solidFill>
                  <a:srgbClr val="B3B0AD"/>
                </a:solidFill>
                <a:latin typeface="Segoe UI"/>
              </a:rPr>
              <a:t>Relacionamentos integros por sk_/id_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250">
                <a:solidFill>
                  <a:srgbClr val="B3B0AD"/>
                </a:solidFill>
                <a:latin typeface="Segoe UI"/>
              </a:rPr>
              <a:t>Ambiguidade fato-para-fato resolvida no TMDL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07/16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02 · AUTOMATIZAR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O mesmo motor, na sua planilha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01B8AA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Envie .csv/.xlsx e receba medidas DAX + modelo TMDL automaticos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01B8AA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Time Intelligence completo quando existe coluna de data (MoM, YoY, YTD)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01B8AA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Consolidacao automatica de planilhas com o mesmo conjunto de colunas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01B8AA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Reparo automatico de encoding quebrado e colunas mal separadas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1B8AA"/>
                </a:solidFill>
                <a:latin typeface="Segoe UI Semibold"/>
              </a:rPr>
              <a:t>SEM PADRAO FIXO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926080"/>
            <a:ext cx="3429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3B0AD"/>
                </a:solidFill>
                <a:latin typeface="Segoe UI"/>
              </a:rPr>
              <a:t>Funciona em cima dos dados reais que voce enviar, sem depender do padrao Fato/Dimensao dos setores prontos.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08/16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D625E"/>
                </a:solidFill>
                <a:latin typeface="Segoe UI Semibold"/>
              </a:rPr>
              <a:t>03 · DADOS CAUSAIS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5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dirty="0">
                <a:solidFill>
                  <a:srgbClr val="F3F2F1"/>
                </a:solidFill>
                <a:latin typeface="Segoe UI Semibold"/>
              </a:rPr>
              <a:t>Rela</a:t>
            </a:r>
            <a:r>
              <a:rPr lang="pt-BR" sz="3400" b="1" i="0" dirty="0" err="1">
                <a:solidFill>
                  <a:srgbClr val="F3F2F1"/>
                </a:solidFill>
                <a:latin typeface="Segoe UI Semibold"/>
              </a:rPr>
              <a:t>çã</a:t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>o causa-</a:t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>efeito</a:t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> </a:t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>conhecida</a:t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> de </a:t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>proposito</a:t>
            </a:r>
            <a:endParaRPr sz="3400" b="1" i="0" dirty="0">
              <a:solidFill>
                <a:srgbClr val="F3F2F1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Escolha causa, efeito, defasagem, confundidor e intensidade de ruido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O efeito e 100% simulado pela formula causal, gabarito sempre confiavel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Serve pra praticar inferencia causal, teste A/B e marketing mix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D625E"/>
                </a:solidFill>
                <a:latin typeface="Segoe UI Semibold"/>
              </a:rPr>
              <a:t>VALIDADO EM TESTES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0175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3F2F1"/>
                </a:solidFill>
                <a:latin typeface="Segoe UI Semibold"/>
              </a:rPr>
              <a:t>0,21  →  0,93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79476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3B0AD"/>
                </a:solidFill>
                <a:latin typeface="Segoe UI"/>
              </a:rPr>
              <a:t>Correlacao medida sem e com a defasagem correta, confirmando que o mecanismo causal se manifesta nos dados.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09/16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D4AF0A"/>
                </a:solidFill>
                <a:latin typeface="Segoe UI Semibold"/>
              </a:rPr>
              <a:t>04 · FERRAMENTAS DAX &amp; TMDL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Formate, audite e calcule de verdade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5193792" cy="16002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" y="2212848"/>
            <a:ext cx="310896" cy="444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377440"/>
            <a:ext cx="4791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3F2F1"/>
                </a:solidFill>
                <a:latin typeface="Segoe UI Semibold"/>
              </a:rPr>
              <a:t>Formatar DAX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61488"/>
            <a:ext cx="4791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3B0AD"/>
                </a:solidFill>
                <a:latin typeface="Segoe UI"/>
              </a:rPr>
              <a:t>Expressao bagunçada vira codigo indentado e legivel, sem depender de servico externo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62472" y="2011680"/>
            <a:ext cx="5193792" cy="16002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2212848"/>
            <a:ext cx="310896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2377440"/>
            <a:ext cx="4791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3F2F1"/>
                </a:solidFill>
                <a:latin typeface="Segoe UI Semibold"/>
              </a:rPr>
              <a:t>Formatar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761488"/>
            <a:ext cx="4791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3B0AD"/>
                </a:solidFill>
                <a:latin typeface="Segoe UI"/>
              </a:rPr>
              <a:t>Mesmo principio do formatador de DAX, adaptado pra sintaxe do Power 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94760"/>
            <a:ext cx="5193792" cy="16002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6968" y="3995928"/>
            <a:ext cx="310896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4160520"/>
            <a:ext cx="4791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3F2F1"/>
                </a:solidFill>
                <a:latin typeface="Segoe UI Semibold"/>
              </a:rPr>
              <a:t>Auditor de Modelo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44568"/>
            <a:ext cx="4791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3B0AD"/>
                </a:solidFill>
                <a:latin typeface="Segoe UI"/>
              </a:rPr>
              <a:t>Cole o TMDL real do seu modelo e receba nota de 0 a 100 com achados acionaveis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62472" y="3794760"/>
            <a:ext cx="5193792" cy="16002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995928"/>
            <a:ext cx="310896" cy="4445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4160520"/>
            <a:ext cx="4791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3F2F1"/>
                </a:solidFill>
                <a:latin typeface="Segoe UI Semibold"/>
              </a:rPr>
              <a:t>DAX Sandbox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544568"/>
            <a:ext cx="4791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3B0AD"/>
                </a:solidFill>
                <a:latin typeface="Segoe UI"/>
              </a:rPr>
              <a:t>SUM, CALCULATE, DIVIDE e mais, calculados de verdade contra os dados gerados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10/16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05 · SIMULADOR PL-300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5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dirty="0">
                <a:solidFill>
                  <a:srgbClr val="F3F2F1"/>
                </a:solidFill>
                <a:latin typeface="Segoe UI Semibold"/>
              </a:rPr>
              <a:t>Pratique para a </a:t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>certifica</a:t>
            </a:r>
            <a:r>
              <a:rPr lang="pt-BR" sz="3400" b="1" i="0" dirty="0" err="1">
                <a:solidFill>
                  <a:srgbClr val="F3F2F1"/>
                </a:solidFill>
                <a:latin typeface="Segoe UI Semibold"/>
              </a:rPr>
              <a:t>çã</a:t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>o </a:t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>oficial</a:t>
            </a:r>
            <a:endParaRPr sz="3400" b="1" i="0" dirty="0">
              <a:solidFill>
                <a:srgbClr val="F3F2F1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Perguntas 100% originais, organizadas nos 4 dominios oficiais do exame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Correcao com nota geral, nota por dominio e explicacao de cada resposta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Progresso pessoal ao longo do tempo, sem login e sem ranking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1B8AA"/>
                </a:solidFill>
                <a:latin typeface="Segoe UI Semibold"/>
              </a:rPr>
              <a:t>4 DOMINIOS OFICIAIS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926080"/>
            <a:ext cx="34290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Preparar os dados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Modelar os dados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Visualizar e analisar os dados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Gerenciar e proteger o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11/16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D625E"/>
                </a:solidFill>
                <a:latin typeface="Segoe UI Semibold"/>
              </a:rPr>
              <a:t>06 · PERGUNTE AOS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5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dirty="0">
                <a:solidFill>
                  <a:srgbClr val="F3F2F1"/>
                </a:solidFill>
                <a:latin typeface="Segoe UI Semibold"/>
              </a:rPr>
              <a:t>Pergunte em português, receba o DAX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Escreva uma pergunta de negocio e veja a resposta calculada de verdade, com a medida DAX equivalente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Suporta agregacao, ranking, filtro por periodo e comparacao entre dois periodos (ex.: Jan/22 vs Jan/23)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Sem LLM: motor de reconhecimento de padroes que recusa pergunta fora do escopo em vez de arriscar resposta errada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D625E"/>
                </a:solidFill>
                <a:latin typeface="Segoe UI Semibold"/>
              </a:rPr>
              <a:t>TRADUÇÃO EM TEMPO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0175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3F2F1"/>
                </a:solidFill>
                <a:latin typeface="Segoe UI Semibold"/>
              </a:rPr>
              <a:t>Pergunta  →  DAX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88620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3B0AD"/>
                </a:solidFill>
                <a:latin typeface="Segoe UI"/>
              </a:rPr>
              <a:t>Voce escreve a pergunta; a ferramenta devolve a medida DAX equivalente e o valor ja calculado contra os dados de verdade.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12/16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D625E"/>
                </a:solidFill>
                <a:latin typeface="Segoe UI Semibold"/>
              </a:rPr>
              <a:t>07 · CARROSSEL POWER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5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dirty="0">
                <a:solidFill>
                  <a:srgbClr val="F3F2F1"/>
                </a:solidFill>
                <a:latin typeface="Segoe UI Semibold"/>
              </a:rPr>
              <a:t>Da TV parada ao painel girando sozinho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Envie o .pbix do relatorio publicado e marque quais paginas quer exibir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Cole o link do Power BI Service - a ferramenta identifica sozinha o reportId e o ctid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Baixe um HTML autonomo com barra de progresso, pronto pra rodar em loop numa TV ou monitor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D625E"/>
                </a:solidFill>
                <a:latin typeface="Segoe UI Semibold"/>
              </a:rPr>
              <a:t>PRONTO EM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0175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3F2F1"/>
                </a:solidFill>
                <a:latin typeface="Segoe UI Semibold"/>
              </a:rPr>
              <a:t>.pbix  →  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79476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3B0AD"/>
                </a:solidFill>
                <a:latin typeface="Segoe UI"/>
              </a:rPr>
              <a:t>Sem mensalidade nem conta em servico de terceiro - so o link do relatorio que voce ja publicou.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13/16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D625E"/>
                </a:solidFill>
                <a:latin typeface="Segoe UI Semibold"/>
              </a:rPr>
              <a:t>EXPORTACAO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Do CSV ao banco relacional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SQL Server, PostgreSQL e MySQL, com tipos mapeados automaticamente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DDL, INSERT ou script completo, prontos pra colar no SSMS/DBeaver/psql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Views de Relatorios Gerenciais deduzidas automaticamente pra qualquer setor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D625E"/>
                </a:solidFill>
                <a:latin typeface="Segoe UI Semibold"/>
              </a:rPr>
              <a:t>VIEWS AUTOMATICAS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926080"/>
            <a:ext cx="34290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KPIs executivos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Evolucao mensal e anual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Variacao %MoM / %YoY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Ranking top 20 por dimensao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14/16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POR BAIXO DO CAPO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Stack simples, sem depender de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5193792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2240280"/>
            <a:ext cx="365760" cy="444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2C811"/>
                </a:solidFill>
                <a:latin typeface="Segoe UI Semibold"/>
              </a:rPr>
              <a:t>TECNOLOGIA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754880" cy="13227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 dirty="0">
                <a:solidFill>
                  <a:srgbClr val="F2C811"/>
                </a:solidFill>
                <a:latin typeface="Segoe UI"/>
              </a:rPr>
              <a:t>― 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Streamlit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 + Python 3.10+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 dirty="0">
                <a:solidFill>
                  <a:srgbClr val="F2C811"/>
                </a:solidFill>
                <a:latin typeface="Segoe UI"/>
              </a:rPr>
              <a:t>―  </a:t>
            </a:r>
            <a:r>
              <a:rPr sz="1300" b="0" dirty="0">
                <a:solidFill>
                  <a:srgbClr val="B3B0AD"/>
                </a:solidFill>
                <a:latin typeface="Segoe UI"/>
              </a:rPr>
              <a:t>pandas e numpy para geracao de dados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 dirty="0">
                <a:solidFill>
                  <a:srgbClr val="F2C811"/>
                </a:solidFill>
                <a:latin typeface="Segoe UI"/>
              </a:rPr>
              <a:t>―  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Faker para dados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ficticios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realistas</a:t>
            </a:r>
            <a:endParaRPr sz="1300" dirty="0">
              <a:solidFill>
                <a:srgbClr val="B3B0AD"/>
              </a:solidFill>
              <a:latin typeface="Segoe UI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 dirty="0">
                <a:solidFill>
                  <a:srgbClr val="F2C811"/>
                </a:solidFill>
                <a:latin typeface="Segoe UI"/>
              </a:rPr>
              <a:t>― 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Plotly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 para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os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graficos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 do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2011680"/>
            <a:ext cx="5193792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01384" y="2240280"/>
            <a:ext cx="365760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1384" y="2560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1B8AA"/>
                </a:solidFill>
                <a:latin typeface="Segoe UI Semibold"/>
              </a:rPr>
              <a:t>EXTRAS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292608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300">
                <a:solidFill>
                  <a:srgbClr val="B3B0AD"/>
                </a:solidFill>
                <a:latin typeface="Segoe UI"/>
              </a:rPr>
              <a:t>Interface bilingue completa (PT-BR / EN)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300">
                <a:solidFill>
                  <a:srgbClr val="B3B0AD"/>
                </a:solidFill>
                <a:latin typeface="Segoe UI"/>
              </a:rPr>
              <a:t>Tema visual inspirado na paleta oficial do Power BI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300">
                <a:solidFill>
                  <a:srgbClr val="B3B0AD"/>
                </a:solidFill>
                <a:latin typeface="Segoe UI"/>
              </a:rPr>
              <a:t>100% dos dados sao ficticios, gerados via Faker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15/16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052560" y="2423160"/>
            <a:ext cx="310896" cy="457200"/>
          </a:xfrm>
          <a:prstGeom prst="roundRect">
            <a:avLst>
              <a:gd name="adj" fmla="val 28000"/>
            </a:avLst>
          </a:prstGeom>
          <a:solidFill>
            <a:srgbClr val="7A7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509760" y="2103120"/>
            <a:ext cx="310896" cy="777240"/>
          </a:xfrm>
          <a:prstGeom prst="roundRect">
            <a:avLst>
              <a:gd name="adj" fmla="val 28000"/>
            </a:avLst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66960" y="1737360"/>
            <a:ext cx="310896" cy="1143000"/>
          </a:xfrm>
          <a:prstGeom prst="roundRect">
            <a:avLst>
              <a:gd name="adj" fmla="val 28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424160" y="2240280"/>
            <a:ext cx="310896" cy="640080"/>
          </a:xfrm>
          <a:prstGeom prst="roundRect">
            <a:avLst>
              <a:gd name="adj" fmla="val 28000"/>
            </a:avLst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881360" y="1920240"/>
            <a:ext cx="310896" cy="960120"/>
          </a:xfrm>
          <a:prstGeom prst="roundRect">
            <a:avLst>
              <a:gd name="adj" fmla="val 28000"/>
            </a:avLst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40">
                <a:solidFill>
                  <a:srgbClr val="F2C811"/>
                </a:solidFill>
                <a:latin typeface="Segoe UI Semibold"/>
              </a:rPr>
              <a:t>COMECE AGORA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9875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3F2F1"/>
                </a:solidFill>
                <a:latin typeface="Segoe UI Semibold"/>
              </a:rPr>
              <a:t>Gere sua primeira base
em segundos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343400"/>
            <a:ext cx="502920" cy="317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480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2C811"/>
                </a:solidFill>
                <a:latin typeface="Segoe UI Semibold"/>
              </a:rPr>
              <a:t>rodrigoaiosa.streamlit.app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1185</Words>
  <Application>Microsoft Office PowerPoint</Application>
  <PresentationFormat>Widescreen</PresentationFormat>
  <Paragraphs>196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Segoe UI</vt:lpstr>
      <vt:lpstr>Segoe UI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RODRIGO</dc:creator>
  <cp:keywords/>
  <dc:description>generated using python-pptx</dc:description>
  <cp:lastModifiedBy>Rodrigo Aiosa</cp:lastModifiedBy>
  <cp:revision>1</cp:revision>
  <dcterms:created xsi:type="dcterms:W3CDTF">2013-01-27T09:14:16Z</dcterms:created>
  <dcterms:modified xsi:type="dcterms:W3CDTF">2026-09-05T02:37:17Z</dcterms:modified>
  <cp:category/>
</cp:coreProperties>
</file>